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6256000" cy="9144000" type="custom"/>
  <p:notesSz cx="16256000" cy="9144000"/>
  <p:embeddedFontLst>
    <p:embeddedFont>
      <p:font typeface="MiSans" charset="-122" pitchFamily="34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font" Target="fonts/font1.fnt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_1.png"/><Relationship Id="rId3" Type="http://schemas.openxmlformats.org/officeDocument/2006/relationships/image" Target="../media/image4_2.png"/><Relationship Id="rId4" Type="http://schemas.openxmlformats.org/officeDocument/2006/relationships/image" Target="../media/image4_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line-l"/>
          <p:cNvSpPr/>
          <p:nvPr/>
        </p:nvSpPr>
        <p:spPr>
          <a:xfrm>
            <a:off x="4165600" y="2565400"/>
            <a:ext cx="558800" cy="12700"/>
          </a:xfrm>
          <a:prstGeom prst="rect">
            <a:avLst/>
          </a:prstGeom>
          <a:solidFill>
            <a:srgbClr val="E6E6E9"/>
          </a:solidFill>
          <a:ln>
            <a:noFill/>
          </a:ln>
        </p:spPr>
      </p:sp>
      <p:sp>
        <p:nvSpPr>
          <p:cNvPr id="3" name="kicker-line-r"/>
          <p:cNvSpPr/>
          <p:nvPr/>
        </p:nvSpPr>
        <p:spPr>
          <a:xfrm>
            <a:off x="11531600" y="2565400"/>
            <a:ext cx="558800" cy="12700"/>
          </a:xfrm>
          <a:prstGeom prst="rect">
            <a:avLst/>
          </a:prstGeom>
          <a:solidFill>
            <a:srgbClr val="E6E6E9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1066800" y="2425700"/>
            <a:ext cx="14122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530" noProof="1" spc="490" kern="0">
                <a:solidFill>
                  <a:srgbClr val="6E6E73"/>
                </a:solidFill>
                <a:latin typeface="MiSans"/>
                <a:ea typeface="MiSans"/>
              </a:rPr>
              <a:t>HKICT AWARDS 2026 · 學生創新獎</a:t>
            </a:r>
            <a:endParaRPr lang="en-US" sz="1530" noProof="1"/>
          </a:p>
        </p:txBody>
      </p:sp>
      <p:sp>
        <p:nvSpPr>
          <p:cNvPr id="5" name="cover-title"/>
          <p:cNvSpPr txBox="1"/>
          <p:nvPr/>
        </p:nvSpPr>
        <p:spPr>
          <a:xfrm>
            <a:off x="1066800" y="3263900"/>
            <a:ext cx="14122400" cy="162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800" noProof="1" b="1" spc="-380" kern="0">
                <a:solidFill>
                  <a:srgbClr val="1D1D1F"/>
                </a:solidFill>
                <a:latin typeface="MiSans"/>
                <a:ea typeface="MiSans"/>
              </a:rPr>
              <a:t>KnowFeed</a:t>
            </a:r>
            <a:endParaRPr lang="en-US" sz="12800" noProof="1"/>
          </a:p>
        </p:txBody>
      </p:sp>
      <p:sp>
        <p:nvSpPr>
          <p:cNvPr id="6" name="cover-subtitle"/>
          <p:cNvSpPr txBox="1"/>
          <p:nvPr/>
        </p:nvSpPr>
        <p:spPr>
          <a:xfrm>
            <a:off x="1066800" y="5143500"/>
            <a:ext cx="141224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2930" noProof="1" spc="1170" kern="0">
                <a:solidFill>
                  <a:srgbClr val="6E6E73"/>
                </a:solidFill>
                <a:latin typeface="MiSans"/>
                <a:ea typeface="MiSans"/>
              </a:rPr>
              <a:t>知識信息流</a:t>
            </a:r>
            <a:endParaRPr lang="en-US" sz="2930" noProof="1"/>
          </a:p>
        </p:txBody>
      </p:sp>
      <p:sp>
        <p:nvSpPr>
          <p:cNvPr id="7" name="slogan-left"/>
          <p:cNvSpPr txBox="1"/>
          <p:nvPr/>
        </p:nvSpPr>
        <p:spPr>
          <a:xfrm>
            <a:off x="1066800" y="6337300"/>
            <a:ext cx="7353300" cy="393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2130" noProof="1" spc="130" kern="0">
                <a:solidFill>
                  <a:srgbClr val="1D1D1F"/>
                </a:solidFill>
                <a:latin typeface="MiSans"/>
                <a:ea typeface="MiSans"/>
              </a:rPr>
              <a:t>將學習，變成每天</a:t>
            </a:r>
            <a:endParaRPr lang="en-US" sz="2130" noProof="1"/>
          </a:p>
        </p:txBody>
      </p:sp>
      <p:sp>
        <p:nvSpPr>
          <p:cNvPr id="8" name="slogan-grad"/>
          <p:cNvSpPr txBox="1"/>
          <p:nvPr/>
        </p:nvSpPr>
        <p:spPr>
          <a:xfrm>
            <a:off x="8420100" y="6337300"/>
            <a:ext cx="3810000" cy="393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130" noProof="1" b="1" spc="130" kern="0">
                <a:gradFill rotWithShape="1">
                  <a:gsLst>
                    <a:gs pos="0">
                      <a:srgbClr val="0071E3"/>
                    </a:gs>
                    <a:gs pos="100000">
                      <a:srgbClr val="BF5AF2"/>
                    </a:gs>
                  </a:gsLst>
                  <a:lin ang="5520000" scaled="1"/>
                </a:gradFill>
                <a:latin typeface="MiSans"/>
                <a:ea typeface="MiSans"/>
              </a:rPr>
              <a:t>可刷的信息流</a:t>
            </a:r>
            <a:endParaRPr lang="en-US" sz="2130" noProof="1"/>
          </a:p>
        </p:txBody>
      </p:sp>
      <p:sp>
        <p:nvSpPr>
          <p:cNvPr id="9" name="footer-school"/>
          <p:cNvSpPr txBox="1"/>
          <p:nvPr/>
        </p:nvSpPr>
        <p:spPr>
          <a:xfrm>
            <a:off x="2197100" y="8597900"/>
            <a:ext cx="7112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 spc="190" kern="0">
                <a:solidFill>
                  <a:srgbClr val="6E6E73"/>
                </a:solidFill>
                <a:latin typeface="MiSans"/>
                <a:ea typeface="MiSans"/>
              </a:rPr>
              <a:t>參賽學校｜[Hong Kong Metropolitan University/City University of Hong Kong]</a:t>
            </a:r>
            <a:endParaRPr lang="en-US" sz="1200" noProof="1"/>
          </a:p>
        </p:txBody>
      </p:sp>
      <p:sp>
        <p:nvSpPr>
          <p:cNvPr id="10" name="footer-team"/>
          <p:cNvSpPr txBox="1"/>
          <p:nvPr/>
        </p:nvSpPr>
        <p:spPr>
          <a:xfrm>
            <a:off x="9715500" y="8597900"/>
            <a:ext cx="43434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 spc="190" kern="0">
                <a:solidFill>
                  <a:srgbClr val="6E6E73"/>
                </a:solidFill>
                <a:latin typeface="MiSans"/>
                <a:ea typeface="MiSans"/>
              </a:rPr>
              <a:t>團隊成員｜[Hau Sze Hoi Steven] / [Xie Jia Chen]</a:t>
            </a:r>
            <a:endParaRPr lang="en-US" sz="12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tick"/>
          <p:cNvSpPr/>
          <p:nvPr/>
        </p:nvSpPr>
        <p:spPr>
          <a:xfrm>
            <a:off x="1066800" y="711200"/>
            <a:ext cx="355600" cy="381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</p:sp>
      <p:sp>
        <p:nvSpPr>
          <p:cNvPr id="3" name="header-title"/>
          <p:cNvSpPr txBox="1"/>
          <p:nvPr/>
        </p:nvSpPr>
        <p:spPr>
          <a:xfrm>
            <a:off x="1066800" y="901700"/>
            <a:ext cx="1143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 spc="-60" kern="0">
                <a:solidFill>
                  <a:srgbClr val="1D1D1F"/>
                </a:solidFill>
                <a:latin typeface="MiSans"/>
                <a:ea typeface="MiSans"/>
              </a:rPr>
              <a:t>痛點與機遇</a:t>
            </a:r>
            <a:endParaRPr lang="en-US" sz="4000" noProof="1"/>
          </a:p>
        </p:txBody>
      </p:sp>
      <p:sp>
        <p:nvSpPr>
          <p:cNvPr id="4" name="header-tag"/>
          <p:cNvSpPr txBox="1"/>
          <p:nvPr/>
        </p:nvSpPr>
        <p:spPr>
          <a:xfrm>
            <a:off x="11379200" y="11811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spc="280" kern="0">
                <a:solidFill>
                  <a:srgbClr val="6E6E73"/>
                </a:solidFill>
                <a:latin typeface="MiSans"/>
                <a:ea typeface="MiSans"/>
              </a:rPr>
              <a:t>01 / PROBLEM</a:t>
            </a:r>
            <a:endParaRPr lang="en-US" sz="1400" noProof="1"/>
          </a:p>
        </p:txBody>
      </p:sp>
      <p:sp>
        <p:nvSpPr>
          <p:cNvPr id="5" name="header-line"/>
          <p:cNvSpPr/>
          <p:nvPr/>
        </p:nvSpPr>
        <p:spPr>
          <a:xfrm>
            <a:off x="1066800" y="1727200"/>
            <a:ext cx="14122400" cy="12700"/>
          </a:xfrm>
          <a:prstGeom prst="rect">
            <a:avLst/>
          </a:prstGeom>
          <a:solidFill>
            <a:srgbClr val="E6E6E9"/>
          </a:solidFill>
          <a:ln>
            <a:noFill/>
          </a:ln>
        </p:spPr>
      </p:sp>
      <p:sp>
        <p:nvSpPr>
          <p:cNvPr id="6" name="quote-bar"/>
          <p:cNvSpPr/>
          <p:nvPr/>
        </p:nvSpPr>
        <p:spPr>
          <a:xfrm>
            <a:off x="1066800" y="2006600"/>
            <a:ext cx="38100" cy="444500"/>
          </a:xfrm>
          <a:prstGeom prst="rect">
            <a:avLst/>
          </a:prstGeom>
          <a:solidFill>
            <a:srgbClr val="0071E3"/>
          </a:solidFill>
          <a:ln>
            <a:noFill/>
          </a:ln>
        </p:spPr>
      </p:sp>
      <p:sp>
        <p:nvSpPr>
          <p:cNvPr id="7" name="quote-text"/>
          <p:cNvSpPr txBox="1"/>
          <p:nvPr/>
        </p:nvSpPr>
        <p:spPr>
          <a:xfrm>
            <a:off x="1409700" y="2032000"/>
            <a:ext cx="13779500" cy="393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70" noProof="1" b="1" spc="-20" kern="0">
                <a:solidFill>
                  <a:srgbClr val="1D1D1F"/>
                </a:solidFill>
                <a:latin typeface="MiSans"/>
                <a:ea typeface="MiSans"/>
              </a:rPr>
              <a:t>「人們不是不想學，而是不知道今天該學什麼、學多久、學完之後能看懂什麼。」</a:t>
            </a:r>
            <a:endParaRPr lang="en-US" sz="2070" noProof="1"/>
          </a:p>
        </p:txBody>
      </p:sp>
      <p:sp>
        <p:nvSpPr>
          <p:cNvPr id="8" name="stat1-num"/>
          <p:cNvSpPr txBox="1"/>
          <p:nvPr/>
        </p:nvSpPr>
        <p:spPr>
          <a:xfrm>
            <a:off x="1066800" y="2755900"/>
            <a:ext cx="53594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400" noProof="1" b="1" spc="-190" kern="0">
                <a:solidFill>
                  <a:srgbClr val="1D1D1F"/>
                </a:solidFill>
                <a:latin typeface="MiSans"/>
                <a:ea typeface="MiSans"/>
              </a:rPr>
              <a:t>90</a:t>
            </a:r>
            <a:r>
              <a:rPr lang="en-US" sz="2670" noProof="1" b="1" spc="-190" kern="0">
                <a:solidFill>
                  <a:srgbClr val="6E6E73"/>
                </a:solidFill>
                <a:latin typeface="MiSans"/>
                <a:ea typeface="MiSans"/>
              </a:rPr>
              <a:t>%</a:t>
            </a:r>
            <a:endParaRPr lang="en-US" sz="1600" noProof="1"/>
          </a:p>
        </p:txBody>
      </p:sp>
      <p:sp>
        <p:nvSpPr>
          <p:cNvPr id="9" name="stat1-label"/>
          <p:cNvSpPr txBox="1"/>
          <p:nvPr/>
        </p:nvSpPr>
        <p:spPr>
          <a:xfrm>
            <a:off x="1066800" y="3708400"/>
            <a:ext cx="5359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600" noProof="1" b="1">
                <a:solidFill>
                  <a:srgbClr val="1D1D1F"/>
                </a:solidFill>
                <a:latin typeface="MiSans"/>
                <a:ea typeface="MiSans"/>
              </a:rPr>
              <a:t>MOOC 課程平均未完成率</a:t>
            </a:r>
            <a:endParaRPr lang="en-US" sz="1600" noProof="1"/>
          </a:p>
          <a:p>
            <a:pPr algn="l">
              <a:lnSpc>
                <a:spcPct val="145000"/>
              </a:lnSpc>
            </a:pPr>
            <a:r>
              <a:rPr lang="en-US" sz="1270" noProof="1" b="1">
                <a:solidFill>
                  <a:srgbClr val="6E6E73"/>
                </a:solidFill>
                <a:latin typeface="MiSans"/>
                <a:ea typeface="MiSans"/>
              </a:rPr>
              <a:t>大型開放式網課平台的多課程平均口徑</a:t>
            </a:r>
            <a:endParaRPr lang="en-US" sz="1600" noProof="1"/>
          </a:p>
        </p:txBody>
      </p:sp>
      <p:sp>
        <p:nvSpPr>
          <p:cNvPr id="10" name="stat2-num"/>
          <p:cNvSpPr txBox="1"/>
          <p:nvPr/>
        </p:nvSpPr>
        <p:spPr>
          <a:xfrm>
            <a:off x="1066800" y="4737100"/>
            <a:ext cx="53594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400" noProof="1" b="1" spc="-190" kern="0">
                <a:solidFill>
                  <a:srgbClr val="1D1D1F"/>
                </a:solidFill>
                <a:latin typeface="MiSans"/>
                <a:ea typeface="MiSans"/>
              </a:rPr>
              <a:t>3–10</a:t>
            </a:r>
            <a:r>
              <a:rPr lang="en-US" sz="2670" noProof="1" b="1" spc="-190" kern="0">
                <a:solidFill>
                  <a:srgbClr val="6E6E73"/>
                </a:solidFill>
                <a:latin typeface="MiSans"/>
                <a:ea typeface="MiSans"/>
              </a:rPr>
              <a:t> min</a:t>
            </a:r>
            <a:endParaRPr lang="en-US" sz="1600" noProof="1"/>
          </a:p>
        </p:txBody>
      </p:sp>
      <p:sp>
        <p:nvSpPr>
          <p:cNvPr id="11" name="stat2-label"/>
          <p:cNvSpPr txBox="1"/>
          <p:nvPr/>
        </p:nvSpPr>
        <p:spPr>
          <a:xfrm>
            <a:off x="1066800" y="5689600"/>
            <a:ext cx="5359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600" noProof="1" b="1">
                <a:solidFill>
                  <a:srgbClr val="1D1D1F"/>
                </a:solidFill>
                <a:latin typeface="MiSans"/>
                <a:ea typeface="MiSans"/>
              </a:rPr>
              <a:t>單次專注的黃金時長</a:t>
            </a:r>
            <a:endParaRPr lang="en-US" sz="1600" noProof="1"/>
          </a:p>
          <a:p>
            <a:pPr algn="l">
              <a:lnSpc>
                <a:spcPct val="145000"/>
              </a:lnSpc>
            </a:pPr>
            <a:r>
              <a:rPr lang="en-US" sz="1270" noProof="1" b="1">
                <a:solidFill>
                  <a:srgbClr val="6E6E73"/>
                </a:solidFill>
                <a:latin typeface="MiSans"/>
                <a:ea typeface="MiSans"/>
              </a:rPr>
              <a:t>碎片化時代的注意力上限</a:t>
            </a:r>
            <a:endParaRPr lang="en-US" sz="1600" noProof="1"/>
          </a:p>
        </p:txBody>
      </p:sp>
      <p:sp>
        <p:nvSpPr>
          <p:cNvPr id="12" name="card1"/>
          <p:cNvSpPr/>
          <p:nvPr/>
        </p:nvSpPr>
        <p:spPr>
          <a:xfrm>
            <a:off x="7137400" y="2844800"/>
            <a:ext cx="8051800" cy="990600"/>
          </a:xfrm>
          <a:prstGeom prst="roundRect">
            <a:avLst>
              <a:gd name="adj" fmla="val 180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13" name="card1-title"/>
          <p:cNvSpPr txBox="1"/>
          <p:nvPr/>
        </p:nvSpPr>
        <p:spPr>
          <a:xfrm>
            <a:off x="7391400" y="3022600"/>
            <a:ext cx="7543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30" noProof="1" b="1">
                <a:solidFill>
                  <a:srgbClr val="0071E3"/>
                </a:solidFill>
                <a:latin typeface="MiSans"/>
                <a:ea typeface="MiSans"/>
              </a:rPr>
              <a:t>P1</a:t>
            </a:r>
            <a:r>
              <a:rPr lang="en-US" sz="1670" noProof="1" b="1">
                <a:solidFill>
                  <a:srgbClr val="1D1D1F"/>
                </a:solidFill>
                <a:latin typeface="MiSans"/>
                <a:ea typeface="MiSans"/>
              </a:rPr>
              <a:t>  </a:t>
            </a:r>
            <a:r>
              <a:rPr lang="en-US" sz="1670" noProof="1" b="1">
                <a:solidFill>
                  <a:srgbClr val="1D1D1F"/>
                </a:solidFill>
                <a:latin typeface="MiSans"/>
                <a:ea typeface="MiSans"/>
              </a:rPr>
              <a:t>門檻過高，難以起步</a:t>
            </a:r>
            <a:endParaRPr lang="en-US" sz="1670" noProof="1"/>
          </a:p>
        </p:txBody>
      </p:sp>
      <p:sp>
        <p:nvSpPr>
          <p:cNvPr id="14" name="card1-desc"/>
          <p:cNvSpPr txBox="1"/>
          <p:nvPr/>
        </p:nvSpPr>
        <p:spPr>
          <a:xfrm>
            <a:off x="7391400" y="3378200"/>
            <a:ext cx="7543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課程目錄動輒上千門，還要求明確目標與大塊時間——多數人在選課階段就直接放棄。</a:t>
            </a:r>
            <a:endParaRPr lang="en-US" sz="1400" noProof="1"/>
          </a:p>
        </p:txBody>
      </p:sp>
      <p:sp>
        <p:nvSpPr>
          <p:cNvPr id="15" name="card2"/>
          <p:cNvSpPr/>
          <p:nvPr/>
        </p:nvSpPr>
        <p:spPr>
          <a:xfrm>
            <a:off x="7137400" y="4013200"/>
            <a:ext cx="8051800" cy="990600"/>
          </a:xfrm>
          <a:prstGeom prst="roundRect">
            <a:avLst>
              <a:gd name="adj" fmla="val 180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16" name="card2-title"/>
          <p:cNvSpPr txBox="1"/>
          <p:nvPr/>
        </p:nvSpPr>
        <p:spPr>
          <a:xfrm>
            <a:off x="7391400" y="4191000"/>
            <a:ext cx="7543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30" noProof="1" b="1">
                <a:solidFill>
                  <a:srgbClr val="0071E3"/>
                </a:solidFill>
                <a:latin typeface="MiSans"/>
                <a:ea typeface="MiSans"/>
              </a:rPr>
              <a:t>P2</a:t>
            </a:r>
            <a:r>
              <a:rPr lang="en-US" sz="1670" noProof="1" b="1">
                <a:solidFill>
                  <a:srgbClr val="1D1D1F"/>
                </a:solidFill>
                <a:latin typeface="MiSans"/>
                <a:ea typeface="MiSans"/>
              </a:rPr>
              <a:t>  </a:t>
            </a:r>
            <a:r>
              <a:rPr lang="en-US" sz="1670" noProof="1" b="1">
                <a:solidFill>
                  <a:srgbClr val="1D1D1F"/>
                </a:solidFill>
                <a:latin typeface="MiSans"/>
                <a:ea typeface="MiSans"/>
              </a:rPr>
              <a:t>互動缺失，難成習慣</a:t>
            </a:r>
            <a:endParaRPr lang="en-US" sz="1670" noProof="1"/>
          </a:p>
        </p:txBody>
      </p:sp>
      <p:sp>
        <p:nvSpPr>
          <p:cNvPr id="17" name="card2-desc"/>
          <p:cNvSpPr txBox="1"/>
          <p:nvPr/>
        </p:nvSpPr>
        <p:spPr>
          <a:xfrm>
            <a:off x="7391400" y="4546600"/>
            <a:ext cx="7543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單向播放沒有反饋，學習是一項孤獨的任務，堅持全靠意志力，無法沉澱為日常。</a:t>
            </a:r>
            <a:endParaRPr lang="en-US" sz="1400" noProof="1"/>
          </a:p>
        </p:txBody>
      </p:sp>
      <p:sp>
        <p:nvSpPr>
          <p:cNvPr id="18" name="card3"/>
          <p:cNvSpPr/>
          <p:nvPr/>
        </p:nvSpPr>
        <p:spPr>
          <a:xfrm>
            <a:off x="7137400" y="5194300"/>
            <a:ext cx="8051800" cy="990600"/>
          </a:xfrm>
          <a:prstGeom prst="roundRect">
            <a:avLst>
              <a:gd name="adj" fmla="val 180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19" name="card3-title"/>
          <p:cNvSpPr txBox="1"/>
          <p:nvPr/>
        </p:nvSpPr>
        <p:spPr>
          <a:xfrm>
            <a:off x="7391400" y="5372100"/>
            <a:ext cx="7543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30" noProof="1" b="1">
                <a:solidFill>
                  <a:srgbClr val="0071E3"/>
                </a:solidFill>
                <a:latin typeface="MiSans"/>
                <a:ea typeface="MiSans"/>
              </a:rPr>
              <a:t>P3</a:t>
            </a:r>
            <a:r>
              <a:rPr lang="en-US" sz="1670" noProof="1" b="1">
                <a:solidFill>
                  <a:srgbClr val="1D1D1F"/>
                </a:solidFill>
                <a:latin typeface="MiSans"/>
                <a:ea typeface="MiSans"/>
              </a:rPr>
              <a:t>  </a:t>
            </a:r>
            <a:r>
              <a:rPr lang="en-US" sz="1670" noProof="1" b="1">
                <a:solidFill>
                  <a:srgbClr val="1D1D1F"/>
                </a:solidFill>
                <a:latin typeface="MiSans"/>
                <a:ea typeface="MiSans"/>
              </a:rPr>
              <a:t>內容僵化，脫節時事</a:t>
            </a:r>
            <a:endParaRPr lang="en-US" sz="1670" noProof="1"/>
          </a:p>
        </p:txBody>
      </p:sp>
      <p:sp>
        <p:nvSpPr>
          <p:cNvPr id="20" name="card3-desc"/>
          <p:cNvSpPr txBox="1"/>
          <p:nvPr/>
        </p:nvSpPr>
        <p:spPr>
          <a:xfrm>
            <a:off x="7391400" y="5727700"/>
            <a:ext cx="7543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錄播課程迭代緩慢，跟不上 AI、Web3 等領域的節奏，學完依舊看不懂行業動態。</a:t>
            </a:r>
            <a:endParaRPr lang="en-US" sz="1400" noProof="1"/>
          </a:p>
        </p:txBody>
      </p:sp>
      <p:sp>
        <p:nvSpPr>
          <p:cNvPr id="21" name="whynow-line"/>
          <p:cNvSpPr/>
          <p:nvPr/>
        </p:nvSpPr>
        <p:spPr>
          <a:xfrm>
            <a:off x="1066800" y="6604000"/>
            <a:ext cx="14122400" cy="12700"/>
          </a:xfrm>
          <a:prstGeom prst="rect">
            <a:avLst/>
          </a:prstGeom>
          <a:solidFill>
            <a:srgbClr val="E6E6E9"/>
          </a:solidFill>
          <a:ln>
            <a:noFill/>
          </a:ln>
        </p:spPr>
      </p:sp>
      <p:sp>
        <p:nvSpPr>
          <p:cNvPr id="22" name="whynow-label"/>
          <p:cNvSpPr txBox="1"/>
          <p:nvPr/>
        </p:nvSpPr>
        <p:spPr>
          <a:xfrm>
            <a:off x="1066800" y="6819900"/>
            <a:ext cx="141224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30" noProof="1" b="1" spc="160" kern="0">
                <a:solidFill>
                  <a:srgbClr val="0071E3"/>
                </a:solidFill>
                <a:latin typeface="MiSans"/>
                <a:ea typeface="MiSans"/>
              </a:rPr>
              <a:t>為什麼是現在 · WHY NOW</a:t>
            </a:r>
            <a:endParaRPr lang="en-US" sz="1330" noProof="1"/>
          </a:p>
        </p:txBody>
      </p:sp>
      <p:sp>
        <p:nvSpPr>
          <p:cNvPr id="23" name="whynow-1"/>
          <p:cNvSpPr txBox="1"/>
          <p:nvPr/>
        </p:nvSpPr>
        <p:spPr>
          <a:xfrm>
            <a:off x="1066800" y="7188200"/>
            <a:ext cx="44704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 b="1">
                <a:solidFill>
                  <a:srgbClr val="6E6E73"/>
                </a:solidFill>
                <a:latin typeface="MiSans"/>
                <a:ea typeface="MiSans"/>
              </a:rPr>
              <a:t>LLM 成熟</a:t>
            </a: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——生成質量與成本越過臨界點，個人化內容首次可以規模化生產。</a:t>
            </a:r>
            <a:endParaRPr lang="en-US" sz="1400" noProof="1"/>
          </a:p>
        </p:txBody>
      </p:sp>
      <p:sp>
        <p:nvSpPr>
          <p:cNvPr id="24" name="whynow-2"/>
          <p:cNvSpPr txBox="1"/>
          <p:nvPr/>
        </p:nvSpPr>
        <p:spPr>
          <a:xfrm>
            <a:off x="5892800" y="7188200"/>
            <a:ext cx="44704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 b="1">
                <a:solidFill>
                  <a:srgbClr val="6E6E73"/>
                </a:solidFill>
                <a:latin typeface="MiSans"/>
                <a:ea typeface="MiSans"/>
              </a:rPr>
              <a:t>習慣已就位</a:t>
            </a: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——用戶每天已花數小時刷手機，產品不必培養新習慣，只需接管舊習慣。</a:t>
            </a:r>
            <a:endParaRPr lang="en-US" sz="1400" noProof="1"/>
          </a:p>
        </p:txBody>
      </p:sp>
      <p:sp>
        <p:nvSpPr>
          <p:cNvPr id="25" name="whynow-3"/>
          <p:cNvSpPr txBox="1"/>
          <p:nvPr/>
        </p:nvSpPr>
        <p:spPr>
          <a:xfrm>
            <a:off x="10718800" y="7188200"/>
            <a:ext cx="44704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 b="1">
                <a:solidFill>
                  <a:srgbClr val="6E6E73"/>
                </a:solidFill>
                <a:latin typeface="MiSans"/>
                <a:ea typeface="MiSans"/>
              </a:rPr>
              <a:t>政策東風</a:t>
            </a: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——香港建設國際創科中心，AI＋教育正獲得前所未有的關注與資源。</a:t>
            </a:r>
            <a:endParaRPr lang="en-US" sz="1400" noProof="1"/>
          </a:p>
        </p:txBody>
      </p:sp>
      <p:sp>
        <p:nvSpPr>
          <p:cNvPr id="26" name="footer-left"/>
          <p:cNvSpPr txBox="1"/>
          <p:nvPr/>
        </p:nvSpPr>
        <p:spPr>
          <a:xfrm>
            <a:off x="1066800" y="8597900"/>
            <a:ext cx="508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spc="190" kern="0">
                <a:solidFill>
                  <a:srgbClr val="6E6E73"/>
                </a:solidFill>
                <a:latin typeface="MiSans"/>
                <a:ea typeface="MiSans"/>
              </a:rPr>
              <a:t>KNOWFEED PITCH DECK</a:t>
            </a:r>
            <a:endParaRPr lang="en-US" sz="1200" noProof="1"/>
          </a:p>
        </p:txBody>
      </p:sp>
      <p:sp>
        <p:nvSpPr>
          <p:cNvPr id="27" name="footer-right"/>
          <p:cNvSpPr txBox="1"/>
          <p:nvPr/>
        </p:nvSpPr>
        <p:spPr>
          <a:xfrm>
            <a:off x="13919200" y="8597900"/>
            <a:ext cx="127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200" noProof="1" b="1" spc="190" kern="0">
                <a:solidFill>
                  <a:srgbClr val="1D1D1F"/>
                </a:solidFill>
                <a:latin typeface="MiSans"/>
                <a:ea typeface="MiSans"/>
              </a:rPr>
              <a:t>02 / 12</a:t>
            </a:r>
            <a:endParaRPr lang="en-US" sz="12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tick"/>
          <p:cNvSpPr/>
          <p:nvPr/>
        </p:nvSpPr>
        <p:spPr>
          <a:xfrm>
            <a:off x="1066800" y="711200"/>
            <a:ext cx="355600" cy="381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</p:sp>
      <p:sp>
        <p:nvSpPr>
          <p:cNvPr id="3" name="header-title"/>
          <p:cNvSpPr txBox="1"/>
          <p:nvPr/>
        </p:nvSpPr>
        <p:spPr>
          <a:xfrm>
            <a:off x="1066800" y="901700"/>
            <a:ext cx="1143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 spc="-60" kern="0">
                <a:solidFill>
                  <a:srgbClr val="1D1D1F"/>
                </a:solidFill>
                <a:latin typeface="MiSans"/>
                <a:ea typeface="MiSans"/>
              </a:rPr>
              <a:t>解決方案：每個痛點，都有對應的解方</a:t>
            </a:r>
            <a:endParaRPr lang="en-US" sz="4000" noProof="1"/>
          </a:p>
        </p:txBody>
      </p:sp>
      <p:sp>
        <p:nvSpPr>
          <p:cNvPr id="4" name="header-tag"/>
          <p:cNvSpPr txBox="1"/>
          <p:nvPr/>
        </p:nvSpPr>
        <p:spPr>
          <a:xfrm>
            <a:off x="11379200" y="11811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spc="280" kern="0">
                <a:solidFill>
                  <a:srgbClr val="6E6E73"/>
                </a:solidFill>
                <a:latin typeface="MiSans"/>
                <a:ea typeface="MiSans"/>
              </a:rPr>
              <a:t>02 / SOLUTION</a:t>
            </a:r>
            <a:endParaRPr lang="en-US" sz="1400" noProof="1"/>
          </a:p>
        </p:txBody>
      </p:sp>
      <p:sp>
        <p:nvSpPr>
          <p:cNvPr id="5" name="header-line"/>
          <p:cNvSpPr/>
          <p:nvPr/>
        </p:nvSpPr>
        <p:spPr>
          <a:xfrm>
            <a:off x="1066800" y="1727200"/>
            <a:ext cx="14122400" cy="12700"/>
          </a:xfrm>
          <a:prstGeom prst="rect">
            <a:avLst/>
          </a:prstGeom>
          <a:solidFill>
            <a:srgbClr val="E6E6E9"/>
          </a:solidFill>
          <a:ln>
            <a:noFill/>
          </a:ln>
        </p:spPr>
      </p:sp>
      <p:sp>
        <p:nvSpPr>
          <p:cNvPr id="6" name="quote-bar"/>
          <p:cNvSpPr/>
          <p:nvPr/>
        </p:nvSpPr>
        <p:spPr>
          <a:xfrm>
            <a:off x="1066800" y="2006600"/>
            <a:ext cx="38100" cy="444500"/>
          </a:xfrm>
          <a:prstGeom prst="rect">
            <a:avLst/>
          </a:prstGeom>
          <a:solidFill>
            <a:srgbClr val="0071E3"/>
          </a:solidFill>
          <a:ln>
            <a:noFill/>
          </a:ln>
        </p:spPr>
      </p:sp>
      <p:sp>
        <p:nvSpPr>
          <p:cNvPr id="7" name="quote-text-1"/>
          <p:cNvSpPr txBox="1"/>
          <p:nvPr/>
        </p:nvSpPr>
        <p:spPr>
          <a:xfrm>
            <a:off x="1409700" y="2032000"/>
            <a:ext cx="5981700" cy="393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2070" noProof="1" b="1" spc="-20" kern="0">
                <a:solidFill>
                  <a:srgbClr val="1D1D1F"/>
                </a:solidFill>
                <a:latin typeface="MiSans"/>
                <a:ea typeface="MiSans"/>
              </a:rPr>
              <a:t>不是再多一門網課——而是把「學不進去」的原因，</a:t>
            </a:r>
            <a:endParaRPr lang="en-US" sz="2070" noProof="1"/>
          </a:p>
        </p:txBody>
      </p:sp>
      <p:sp>
        <p:nvSpPr>
          <p:cNvPr id="8" name="quote-text-grad"/>
          <p:cNvSpPr txBox="1"/>
          <p:nvPr/>
        </p:nvSpPr>
        <p:spPr>
          <a:xfrm>
            <a:off x="7391400" y="2032000"/>
            <a:ext cx="1562100" cy="393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70" noProof="1" b="1" spc="-20" kern="0">
                <a:gradFill rotWithShape="1">
                  <a:gsLst>
                    <a:gs pos="0">
                      <a:srgbClr val="0071E3"/>
                    </a:gs>
                    <a:gs pos="100000">
                      <a:srgbClr val="BF5AF2"/>
                    </a:gs>
                  </a:gsLst>
                  <a:lin ang="5520000" scaled="1"/>
                </a:gradFill>
                <a:latin typeface="MiSans"/>
                <a:ea typeface="MiSans"/>
              </a:rPr>
              <a:t>一條一條拆掉</a:t>
            </a:r>
            <a:endParaRPr lang="en-US" sz="2070" noProof="1"/>
          </a:p>
        </p:txBody>
      </p:sp>
      <p:sp>
        <p:nvSpPr>
          <p:cNvPr id="9" name="quote-text-3"/>
          <p:cNvSpPr txBox="1"/>
          <p:nvPr/>
        </p:nvSpPr>
        <p:spPr>
          <a:xfrm>
            <a:off x="8953500" y="2032000"/>
            <a:ext cx="1270000" cy="393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70" noProof="1" b="1" spc="-20" kern="0">
                <a:solidFill>
                  <a:srgbClr val="1D1D1F"/>
                </a:solidFill>
                <a:latin typeface="MiSans"/>
                <a:ea typeface="MiSans"/>
              </a:rPr>
              <a:t>。</a:t>
            </a:r>
            <a:endParaRPr lang="en-US" sz="2070" noProof="1"/>
          </a:p>
        </p:txBody>
      </p:sp>
      <p:sp>
        <p:nvSpPr>
          <p:cNvPr id="10" name="sol-card1"/>
          <p:cNvSpPr/>
          <p:nvPr/>
        </p:nvSpPr>
        <p:spPr>
          <a:xfrm>
            <a:off x="1066800" y="2781300"/>
            <a:ext cx="4521200" cy="2260600"/>
          </a:xfrm>
          <a:prstGeom prst="roundRect">
            <a:avLst>
              <a:gd name="adj" fmla="val 101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11" name="sol1-tag"/>
          <p:cNvSpPr txBox="1"/>
          <p:nvPr/>
        </p:nvSpPr>
        <p:spPr>
          <a:xfrm>
            <a:off x="1397000" y="3086100"/>
            <a:ext cx="38608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30" noProof="1" b="1" spc="110" kern="0">
                <a:solidFill>
                  <a:srgbClr val="0071E3"/>
                </a:solidFill>
                <a:latin typeface="MiSans"/>
                <a:ea typeface="MiSans"/>
              </a:rPr>
              <a:t>P1 門檻高 → S1</a:t>
            </a:r>
            <a:endParaRPr lang="en-US" sz="1330" noProof="1"/>
          </a:p>
        </p:txBody>
      </p:sp>
      <p:sp>
        <p:nvSpPr>
          <p:cNvPr id="12" name="sol1-title"/>
          <p:cNvSpPr txBox="1"/>
          <p:nvPr/>
        </p:nvSpPr>
        <p:spPr>
          <a:xfrm>
            <a:off x="1397000" y="3429000"/>
            <a:ext cx="3860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1D1D1F"/>
                </a:solidFill>
                <a:latin typeface="MiSans"/>
                <a:ea typeface="MiSans"/>
              </a:rPr>
              <a:t>路徑替你鋪好</a:t>
            </a:r>
            <a:endParaRPr lang="en-US" sz="1800" noProof="1"/>
          </a:p>
        </p:txBody>
      </p:sp>
      <p:sp>
        <p:nvSpPr>
          <p:cNvPr id="13" name="sol1-desc"/>
          <p:cNvSpPr txBox="1"/>
          <p:nvPr/>
        </p:nvSpPr>
        <p:spPr>
          <a:xfrm>
            <a:off x="1397000" y="3886200"/>
            <a:ext cx="3860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輸入一句「我想學 Fintech」，AI 當場生成 7 天結構化路徑。每天 3–15 分鐘，打開就學——沒有選課，沒有排程。</a:t>
            </a:r>
            <a:endParaRPr lang="en-US" sz="1400" noProof="1"/>
          </a:p>
        </p:txBody>
      </p:sp>
      <p:sp>
        <p:nvSpPr>
          <p:cNvPr id="14" name="sol-card2"/>
          <p:cNvSpPr/>
          <p:nvPr/>
        </p:nvSpPr>
        <p:spPr>
          <a:xfrm>
            <a:off x="5867400" y="2781300"/>
            <a:ext cx="4521200" cy="2260600"/>
          </a:xfrm>
          <a:prstGeom prst="roundRect">
            <a:avLst>
              <a:gd name="adj" fmla="val 101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15" name="sol2-tag"/>
          <p:cNvSpPr txBox="1"/>
          <p:nvPr/>
        </p:nvSpPr>
        <p:spPr>
          <a:xfrm>
            <a:off x="6197600" y="3086100"/>
            <a:ext cx="38608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30" noProof="1" b="1" spc="110" kern="0">
                <a:solidFill>
                  <a:srgbClr val="0071E3"/>
                </a:solidFill>
                <a:latin typeface="MiSans"/>
                <a:ea typeface="MiSans"/>
              </a:rPr>
              <a:t>P2 難堅持 → S2</a:t>
            </a:r>
            <a:endParaRPr lang="en-US" sz="1330" noProof="1"/>
          </a:p>
        </p:txBody>
      </p:sp>
      <p:sp>
        <p:nvSpPr>
          <p:cNvPr id="16" name="sol2-title"/>
          <p:cNvSpPr txBox="1"/>
          <p:nvPr/>
        </p:nvSpPr>
        <p:spPr>
          <a:xfrm>
            <a:off x="6197600" y="3429000"/>
            <a:ext cx="3860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1D1D1F"/>
                </a:solidFill>
                <a:latin typeface="MiSans"/>
                <a:ea typeface="MiSans"/>
              </a:rPr>
              <a:t>閉環逼你輸出</a:t>
            </a:r>
            <a:endParaRPr lang="en-US" sz="1800" noProof="1"/>
          </a:p>
        </p:txBody>
      </p:sp>
      <p:sp>
        <p:nvSpPr>
          <p:cNvPr id="17" name="sol2-desc"/>
          <p:cNvSpPr txBox="1"/>
          <p:nvPr/>
        </p:nvSpPr>
        <p:spPr>
          <a:xfrm>
            <a:off x="6197600" y="3886200"/>
            <a:ext cx="3860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每天學完，必須「用自己的話講一遍」，經你批准後由學習分身發布到社區，換來真實反饋——習慣不靠意志力。</a:t>
            </a:r>
            <a:endParaRPr lang="en-US" sz="1400" noProof="1"/>
          </a:p>
        </p:txBody>
      </p:sp>
      <p:sp>
        <p:nvSpPr>
          <p:cNvPr id="18" name="sol-card3"/>
          <p:cNvSpPr/>
          <p:nvPr/>
        </p:nvSpPr>
        <p:spPr>
          <a:xfrm>
            <a:off x="10668000" y="2781300"/>
            <a:ext cx="4521200" cy="2260600"/>
          </a:xfrm>
          <a:prstGeom prst="roundRect">
            <a:avLst>
              <a:gd name="adj" fmla="val 101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19" name="sol3-tag"/>
          <p:cNvSpPr txBox="1"/>
          <p:nvPr/>
        </p:nvSpPr>
        <p:spPr>
          <a:xfrm>
            <a:off x="10998200" y="3086100"/>
            <a:ext cx="38608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30" noProof="1" b="1" spc="110" kern="0">
                <a:solidFill>
                  <a:srgbClr val="0071E3"/>
                </a:solidFill>
                <a:latin typeface="MiSans"/>
                <a:ea typeface="MiSans"/>
              </a:rPr>
              <a:t>P3 內容舊 → S3</a:t>
            </a:r>
            <a:endParaRPr lang="en-US" sz="1330" noProof="1"/>
          </a:p>
        </p:txBody>
      </p:sp>
      <p:sp>
        <p:nvSpPr>
          <p:cNvPr id="20" name="sol3-title"/>
          <p:cNvSpPr txBox="1"/>
          <p:nvPr/>
        </p:nvSpPr>
        <p:spPr>
          <a:xfrm>
            <a:off x="10998200" y="3429000"/>
            <a:ext cx="3860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1D1D1F"/>
                </a:solidFill>
                <a:latin typeface="MiSans"/>
                <a:ea typeface="MiSans"/>
              </a:rPr>
              <a:t>引擎當日生成</a:t>
            </a:r>
            <a:endParaRPr lang="en-US" sz="1800" noProof="1"/>
          </a:p>
        </p:txBody>
      </p:sp>
      <p:sp>
        <p:nvSpPr>
          <p:cNvPr id="21" name="sol3-desc"/>
          <p:cNvSpPr txBox="1"/>
          <p:nvPr/>
        </p:nvSpPr>
        <p:spPr>
          <a:xfrm>
            <a:off x="10998200" y="3886200"/>
            <a:ext cx="3860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不依賴錄播課程：引擎當天檢索、溯源校驗後生成內容——AI、Web3 的動態，今天發生、今天就能學。</a:t>
            </a:r>
            <a:endParaRPr lang="en-US" sz="1400" noProof="1"/>
          </a:p>
        </p:txBody>
      </p:sp>
      <p:sp>
        <p:nvSpPr>
          <p:cNvPr id="22" name="loop-h3"/>
          <p:cNvSpPr txBox="1"/>
          <p:nvPr/>
        </p:nvSpPr>
        <p:spPr>
          <a:xfrm>
            <a:off x="1066800" y="5372100"/>
            <a:ext cx="141224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70" noProof="1" b="1">
                <a:solidFill>
                  <a:srgbClr val="1D1D1F"/>
                </a:solidFill>
                <a:latin typeface="MiSans"/>
                <a:ea typeface="MiSans"/>
              </a:rPr>
              <a:t>每日閉環：習慣是怎麼形成的</a:t>
            </a:r>
            <a:endParaRPr lang="en-US" sz="1870" noProof="1"/>
          </a:p>
        </p:txBody>
      </p:sp>
      <p:sp>
        <p:nvSpPr>
          <p:cNvPr id="23" name="step1"/>
          <p:cNvSpPr/>
          <p:nvPr/>
        </p:nvSpPr>
        <p:spPr>
          <a:xfrm>
            <a:off x="1066800" y="5867400"/>
            <a:ext cx="2400300" cy="1168400"/>
          </a:xfrm>
          <a:prstGeom prst="roundRect">
            <a:avLst>
              <a:gd name="adj" fmla="val 152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24" name="step1-num"/>
          <p:cNvSpPr txBox="1"/>
          <p:nvPr/>
        </p:nvSpPr>
        <p:spPr>
          <a:xfrm>
            <a:off x="1244600" y="6019800"/>
            <a:ext cx="20447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730" noProof="1" b="1">
                <a:solidFill>
                  <a:srgbClr val="0071E3"/>
                </a:solidFill>
                <a:latin typeface="MiSans"/>
                <a:ea typeface="MiSans"/>
              </a:rPr>
              <a:t>1</a:t>
            </a:r>
            <a:endParaRPr lang="en-US" sz="1730" noProof="1"/>
          </a:p>
        </p:txBody>
      </p:sp>
      <p:sp>
        <p:nvSpPr>
          <p:cNvPr id="25" name="step1-title"/>
          <p:cNvSpPr txBox="1"/>
          <p:nvPr/>
        </p:nvSpPr>
        <p:spPr>
          <a:xfrm>
            <a:off x="1244600" y="6324600"/>
            <a:ext cx="20447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530" noProof="1" b="1">
                <a:solidFill>
                  <a:srgbClr val="1D1D1F"/>
                </a:solidFill>
                <a:latin typeface="MiSans"/>
                <a:ea typeface="MiSans"/>
              </a:rPr>
              <a:t>輸入目標</a:t>
            </a:r>
            <a:endParaRPr lang="en-US" sz="1530" noProof="1"/>
          </a:p>
        </p:txBody>
      </p:sp>
      <p:sp>
        <p:nvSpPr>
          <p:cNvPr id="26" name="step1-desc"/>
          <p:cNvSpPr txBox="1"/>
          <p:nvPr/>
        </p:nvSpPr>
        <p:spPr>
          <a:xfrm>
            <a:off x="1244600" y="6654800"/>
            <a:ext cx="20447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45000"/>
              </a:lnSpc>
            </a:pPr>
            <a:r>
              <a:rPr lang="en-US" sz="1270" noProof="1">
                <a:solidFill>
                  <a:srgbClr val="6E6E73"/>
                </a:solidFill>
                <a:latin typeface="MiSans"/>
                <a:ea typeface="MiSans"/>
              </a:rPr>
              <a:t>任意主題＋個人背景畫像</a:t>
            </a:r>
            <a:endParaRPr lang="en-US" sz="1270" noProof="1"/>
          </a:p>
        </p:txBody>
      </p:sp>
      <p:sp>
        <p:nvSpPr>
          <p:cNvPr id="27" name="arrow1"/>
          <p:cNvSpPr txBox="1"/>
          <p:nvPr/>
        </p:nvSpPr>
        <p:spPr>
          <a:xfrm>
            <a:off x="3619500" y="5867400"/>
            <a:ext cx="2159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30" noProof="1" b="1">
                <a:solidFill>
                  <a:srgbClr val="0071E3"/>
                </a:solidFill>
                <a:latin typeface="MiSans"/>
                <a:ea typeface="MiSans"/>
              </a:rPr>
              <a:t>→</a:t>
            </a:r>
            <a:endParaRPr lang="en-US" sz="1730" noProof="1"/>
          </a:p>
        </p:txBody>
      </p:sp>
      <p:sp>
        <p:nvSpPr>
          <p:cNvPr id="28" name="step2"/>
          <p:cNvSpPr/>
          <p:nvPr/>
        </p:nvSpPr>
        <p:spPr>
          <a:xfrm>
            <a:off x="4000500" y="5867400"/>
            <a:ext cx="2400300" cy="1168400"/>
          </a:xfrm>
          <a:prstGeom prst="roundRect">
            <a:avLst>
              <a:gd name="adj" fmla="val 152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29" name="step2-num"/>
          <p:cNvSpPr txBox="1"/>
          <p:nvPr/>
        </p:nvSpPr>
        <p:spPr>
          <a:xfrm>
            <a:off x="4178300" y="6019800"/>
            <a:ext cx="20447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730" noProof="1" b="1">
                <a:solidFill>
                  <a:srgbClr val="0071E3"/>
                </a:solidFill>
                <a:latin typeface="MiSans"/>
                <a:ea typeface="MiSans"/>
              </a:rPr>
              <a:t>2</a:t>
            </a:r>
            <a:endParaRPr lang="en-US" sz="1730" noProof="1"/>
          </a:p>
        </p:txBody>
      </p:sp>
      <p:sp>
        <p:nvSpPr>
          <p:cNvPr id="30" name="step2-title"/>
          <p:cNvSpPr txBox="1"/>
          <p:nvPr/>
        </p:nvSpPr>
        <p:spPr>
          <a:xfrm>
            <a:off x="4178300" y="6324600"/>
            <a:ext cx="20447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530" noProof="1" b="1">
                <a:solidFill>
                  <a:srgbClr val="1D1D1F"/>
                </a:solidFill>
                <a:latin typeface="MiSans"/>
                <a:ea typeface="MiSans"/>
              </a:rPr>
              <a:t>生成路徑</a:t>
            </a:r>
            <a:endParaRPr lang="en-US" sz="1530" noProof="1"/>
          </a:p>
        </p:txBody>
      </p:sp>
      <p:sp>
        <p:nvSpPr>
          <p:cNvPr id="31" name="step2-desc"/>
          <p:cNvSpPr txBox="1"/>
          <p:nvPr/>
        </p:nvSpPr>
        <p:spPr>
          <a:xfrm>
            <a:off x="4178300" y="6654800"/>
            <a:ext cx="20447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45000"/>
              </a:lnSpc>
            </a:pPr>
            <a:r>
              <a:rPr lang="en-US" sz="1270" noProof="1">
                <a:solidFill>
                  <a:srgbClr val="6E6E73"/>
                </a:solidFill>
                <a:latin typeface="MiSans"/>
                <a:ea typeface="MiSans"/>
              </a:rPr>
              <a:t>AI 規劃 7 天結構化課程</a:t>
            </a:r>
            <a:endParaRPr lang="en-US" sz="1270" noProof="1"/>
          </a:p>
        </p:txBody>
      </p:sp>
      <p:sp>
        <p:nvSpPr>
          <p:cNvPr id="32" name="arrow2"/>
          <p:cNvSpPr txBox="1"/>
          <p:nvPr/>
        </p:nvSpPr>
        <p:spPr>
          <a:xfrm>
            <a:off x="6553200" y="5867400"/>
            <a:ext cx="2159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30" noProof="1" b="1">
                <a:solidFill>
                  <a:srgbClr val="0071E3"/>
                </a:solidFill>
                <a:latin typeface="MiSans"/>
                <a:ea typeface="MiSans"/>
              </a:rPr>
              <a:t>→</a:t>
            </a:r>
            <a:endParaRPr lang="en-US" sz="1730" noProof="1"/>
          </a:p>
        </p:txBody>
      </p:sp>
      <p:sp>
        <p:nvSpPr>
          <p:cNvPr id="33" name="step3"/>
          <p:cNvSpPr/>
          <p:nvPr/>
        </p:nvSpPr>
        <p:spPr>
          <a:xfrm>
            <a:off x="6921500" y="5867400"/>
            <a:ext cx="2400300" cy="1168400"/>
          </a:xfrm>
          <a:prstGeom prst="roundRect">
            <a:avLst>
              <a:gd name="adj" fmla="val 152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34" name="step3-num"/>
          <p:cNvSpPr txBox="1"/>
          <p:nvPr/>
        </p:nvSpPr>
        <p:spPr>
          <a:xfrm>
            <a:off x="7099300" y="6019800"/>
            <a:ext cx="20447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730" noProof="1" b="1">
                <a:solidFill>
                  <a:srgbClr val="0071E3"/>
                </a:solidFill>
                <a:latin typeface="MiSans"/>
                <a:ea typeface="MiSans"/>
              </a:rPr>
              <a:t>3</a:t>
            </a:r>
            <a:endParaRPr lang="en-US" sz="1730" noProof="1"/>
          </a:p>
        </p:txBody>
      </p:sp>
      <p:sp>
        <p:nvSpPr>
          <p:cNvPr id="35" name="step3-title"/>
          <p:cNvSpPr txBox="1"/>
          <p:nvPr/>
        </p:nvSpPr>
        <p:spPr>
          <a:xfrm>
            <a:off x="7099300" y="6324600"/>
            <a:ext cx="20447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530" noProof="1" b="1">
                <a:solidFill>
                  <a:srgbClr val="1D1D1F"/>
                </a:solidFill>
                <a:latin typeface="MiSans"/>
                <a:ea typeface="MiSans"/>
              </a:rPr>
              <a:t>每日學習</a:t>
            </a:r>
            <a:endParaRPr lang="en-US" sz="1530" noProof="1"/>
          </a:p>
        </p:txBody>
      </p:sp>
      <p:sp>
        <p:nvSpPr>
          <p:cNvPr id="36" name="step3-desc"/>
          <p:cNvSpPr txBox="1"/>
          <p:nvPr/>
        </p:nvSpPr>
        <p:spPr>
          <a:xfrm>
            <a:off x="7099300" y="6654800"/>
            <a:ext cx="20447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45000"/>
              </a:lnSpc>
            </a:pPr>
            <a:r>
              <a:rPr lang="en-US" sz="1270" noProof="1">
                <a:solidFill>
                  <a:srgbClr val="6E6E73"/>
                </a:solidFill>
                <a:latin typeface="MiSans"/>
                <a:ea typeface="MiSans"/>
              </a:rPr>
              <a:t>3–15 分鐘 Feed＋微課</a:t>
            </a:r>
            <a:endParaRPr lang="en-US" sz="1270" noProof="1"/>
          </a:p>
        </p:txBody>
      </p:sp>
      <p:sp>
        <p:nvSpPr>
          <p:cNvPr id="37" name="arrow3"/>
          <p:cNvSpPr txBox="1"/>
          <p:nvPr/>
        </p:nvSpPr>
        <p:spPr>
          <a:xfrm>
            <a:off x="9486900" y="5867400"/>
            <a:ext cx="2159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30" noProof="1" b="1">
                <a:solidFill>
                  <a:srgbClr val="0071E3"/>
                </a:solidFill>
                <a:latin typeface="MiSans"/>
                <a:ea typeface="MiSans"/>
              </a:rPr>
              <a:t>→</a:t>
            </a:r>
            <a:endParaRPr lang="en-US" sz="1730" noProof="1"/>
          </a:p>
        </p:txBody>
      </p:sp>
      <p:sp>
        <p:nvSpPr>
          <p:cNvPr id="38" name="step4"/>
          <p:cNvSpPr/>
          <p:nvPr/>
        </p:nvSpPr>
        <p:spPr>
          <a:xfrm>
            <a:off x="9855200" y="5867400"/>
            <a:ext cx="2400300" cy="1168400"/>
          </a:xfrm>
          <a:prstGeom prst="roundRect">
            <a:avLst>
              <a:gd name="adj" fmla="val 152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39" name="step4-num"/>
          <p:cNvSpPr txBox="1"/>
          <p:nvPr/>
        </p:nvSpPr>
        <p:spPr>
          <a:xfrm>
            <a:off x="10033000" y="6019800"/>
            <a:ext cx="20447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730" noProof="1" b="1">
                <a:solidFill>
                  <a:srgbClr val="0071E3"/>
                </a:solidFill>
                <a:latin typeface="MiSans"/>
                <a:ea typeface="MiSans"/>
              </a:rPr>
              <a:t>4</a:t>
            </a:r>
            <a:endParaRPr lang="en-US" sz="1730" noProof="1"/>
          </a:p>
        </p:txBody>
      </p:sp>
      <p:sp>
        <p:nvSpPr>
          <p:cNvPr id="40" name="step4-title"/>
          <p:cNvSpPr txBox="1"/>
          <p:nvPr/>
        </p:nvSpPr>
        <p:spPr>
          <a:xfrm>
            <a:off x="10033000" y="6324600"/>
            <a:ext cx="20447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530" noProof="1" b="1">
                <a:solidFill>
                  <a:srgbClr val="1D1D1F"/>
                </a:solidFill>
                <a:latin typeface="MiSans"/>
                <a:ea typeface="MiSans"/>
              </a:rPr>
              <a:t>輸出內化</a:t>
            </a:r>
            <a:endParaRPr lang="en-US" sz="1530" noProof="1"/>
          </a:p>
        </p:txBody>
      </p:sp>
      <p:sp>
        <p:nvSpPr>
          <p:cNvPr id="41" name="step4-desc"/>
          <p:cNvSpPr txBox="1"/>
          <p:nvPr/>
        </p:nvSpPr>
        <p:spPr>
          <a:xfrm>
            <a:off x="10033000" y="6654800"/>
            <a:ext cx="20447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45000"/>
              </a:lnSpc>
            </a:pPr>
            <a:r>
              <a:rPr lang="en-US" sz="1270" noProof="1">
                <a:solidFill>
                  <a:srgbClr val="6E6E73"/>
                </a:solidFill>
                <a:latin typeface="MiSans"/>
                <a:ea typeface="MiSans"/>
              </a:rPr>
              <a:t>費曼輸出＋社區討論</a:t>
            </a:r>
            <a:endParaRPr lang="en-US" sz="1270" noProof="1"/>
          </a:p>
        </p:txBody>
      </p:sp>
      <p:sp>
        <p:nvSpPr>
          <p:cNvPr id="42" name="arrow4"/>
          <p:cNvSpPr txBox="1"/>
          <p:nvPr/>
        </p:nvSpPr>
        <p:spPr>
          <a:xfrm>
            <a:off x="12407900" y="5867400"/>
            <a:ext cx="2159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30" noProof="1" b="1">
                <a:solidFill>
                  <a:srgbClr val="0071E3"/>
                </a:solidFill>
                <a:latin typeface="MiSans"/>
                <a:ea typeface="MiSans"/>
              </a:rPr>
              <a:t>→</a:t>
            </a:r>
            <a:endParaRPr lang="en-US" sz="1730" noProof="1"/>
          </a:p>
        </p:txBody>
      </p:sp>
      <p:sp>
        <p:nvSpPr>
          <p:cNvPr id="43" name="step5"/>
          <p:cNvSpPr/>
          <p:nvPr/>
        </p:nvSpPr>
        <p:spPr>
          <a:xfrm>
            <a:off x="12788900" y="5867400"/>
            <a:ext cx="2400300" cy="1168400"/>
          </a:xfrm>
          <a:prstGeom prst="roundRect">
            <a:avLst>
              <a:gd name="adj" fmla="val 152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44" name="step5-num"/>
          <p:cNvSpPr txBox="1"/>
          <p:nvPr/>
        </p:nvSpPr>
        <p:spPr>
          <a:xfrm>
            <a:off x="12966700" y="6019800"/>
            <a:ext cx="20447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730" noProof="1" b="1">
                <a:solidFill>
                  <a:srgbClr val="0071E3"/>
                </a:solidFill>
                <a:latin typeface="MiSans"/>
                <a:ea typeface="MiSans"/>
              </a:rPr>
              <a:t>5</a:t>
            </a:r>
            <a:endParaRPr lang="en-US" sz="1730" noProof="1"/>
          </a:p>
        </p:txBody>
      </p:sp>
      <p:sp>
        <p:nvSpPr>
          <p:cNvPr id="45" name="step5-title"/>
          <p:cNvSpPr txBox="1"/>
          <p:nvPr/>
        </p:nvSpPr>
        <p:spPr>
          <a:xfrm>
            <a:off x="12966700" y="6324600"/>
            <a:ext cx="20447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530" noProof="1" b="1">
                <a:solidFill>
                  <a:srgbClr val="1D1D1F"/>
                </a:solidFill>
                <a:latin typeface="MiSans"/>
                <a:ea typeface="MiSans"/>
              </a:rPr>
              <a:t>掌握提升</a:t>
            </a:r>
            <a:endParaRPr lang="en-US" sz="1530" noProof="1"/>
          </a:p>
        </p:txBody>
      </p:sp>
      <p:sp>
        <p:nvSpPr>
          <p:cNvPr id="46" name="step5-desc"/>
          <p:cNvSpPr txBox="1"/>
          <p:nvPr/>
        </p:nvSpPr>
        <p:spPr>
          <a:xfrm>
            <a:off x="12966700" y="6654800"/>
            <a:ext cx="20447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45000"/>
              </a:lnSpc>
            </a:pPr>
            <a:r>
              <a:rPr lang="en-US" sz="1270" noProof="1">
                <a:solidFill>
                  <a:srgbClr val="6E6E73"/>
                </a:solidFill>
                <a:latin typeface="MiSans"/>
                <a:ea typeface="MiSans"/>
              </a:rPr>
              <a:t>間隔重複驅動自動複習</a:t>
            </a:r>
            <a:endParaRPr lang="en-US" sz="1270" noProof="1"/>
          </a:p>
        </p:txBody>
      </p:sp>
      <p:sp>
        <p:nvSpPr>
          <p:cNvPr id="47" name="footer-left"/>
          <p:cNvSpPr txBox="1"/>
          <p:nvPr/>
        </p:nvSpPr>
        <p:spPr>
          <a:xfrm>
            <a:off x="1066800" y="8597900"/>
            <a:ext cx="508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spc="190" kern="0">
                <a:solidFill>
                  <a:srgbClr val="6E6E73"/>
                </a:solidFill>
                <a:latin typeface="MiSans"/>
                <a:ea typeface="MiSans"/>
              </a:rPr>
              <a:t>KNOWFEED PITCH DECK</a:t>
            </a:r>
            <a:endParaRPr lang="en-US" sz="1200" noProof="1"/>
          </a:p>
        </p:txBody>
      </p:sp>
      <p:sp>
        <p:nvSpPr>
          <p:cNvPr id="48" name="footer-right"/>
          <p:cNvSpPr txBox="1"/>
          <p:nvPr/>
        </p:nvSpPr>
        <p:spPr>
          <a:xfrm>
            <a:off x="13919200" y="8597900"/>
            <a:ext cx="127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200" noProof="1" b="1" spc="190" kern="0">
                <a:solidFill>
                  <a:srgbClr val="1D1D1F"/>
                </a:solidFill>
                <a:latin typeface="MiSans"/>
                <a:ea typeface="MiSans"/>
              </a:rPr>
              <a:t>03 / 12</a:t>
            </a:r>
            <a:endParaRPr lang="en-US" sz="12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tick"/>
          <p:cNvSpPr/>
          <p:nvPr/>
        </p:nvSpPr>
        <p:spPr>
          <a:xfrm>
            <a:off x="1066800" y="711200"/>
            <a:ext cx="355600" cy="381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</p:sp>
      <p:sp>
        <p:nvSpPr>
          <p:cNvPr id="3" name="header-title"/>
          <p:cNvSpPr txBox="1"/>
          <p:nvPr/>
        </p:nvSpPr>
        <p:spPr>
          <a:xfrm>
            <a:off x="1066800" y="901700"/>
            <a:ext cx="1143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 spc="-60" kern="0">
                <a:solidFill>
                  <a:srgbClr val="1D1D1F"/>
                </a:solidFill>
                <a:latin typeface="MiSans"/>
                <a:ea typeface="MiSans"/>
              </a:rPr>
              <a:t>產品實景：三個解方，都在跑</a:t>
            </a:r>
            <a:endParaRPr lang="en-US" sz="4000" noProof="1"/>
          </a:p>
        </p:txBody>
      </p:sp>
      <p:sp>
        <p:nvSpPr>
          <p:cNvPr id="4" name="header-tag"/>
          <p:cNvSpPr txBox="1"/>
          <p:nvPr/>
        </p:nvSpPr>
        <p:spPr>
          <a:xfrm>
            <a:off x="11379200" y="11811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spc="280" kern="0">
                <a:solidFill>
                  <a:srgbClr val="6E6E73"/>
                </a:solidFill>
                <a:latin typeface="MiSans"/>
                <a:ea typeface="MiSans"/>
              </a:rPr>
              <a:t>03 / PRODUCT</a:t>
            </a:r>
            <a:endParaRPr lang="en-US" sz="1400" noProof="1"/>
          </a:p>
        </p:txBody>
      </p:sp>
      <p:sp>
        <p:nvSpPr>
          <p:cNvPr id="5" name="header-line"/>
          <p:cNvSpPr/>
          <p:nvPr/>
        </p:nvSpPr>
        <p:spPr>
          <a:xfrm>
            <a:off x="1066800" y="1727200"/>
            <a:ext cx="14122400" cy="12700"/>
          </a:xfrm>
          <a:prstGeom prst="rect">
            <a:avLst/>
          </a:prstGeom>
          <a:solidFill>
            <a:srgbClr val="E6E6E9"/>
          </a:solidFill>
          <a:ln>
            <a:noFill/>
          </a:ln>
        </p:spPr>
      </p:sp>
      <p:sp>
        <p:nvSpPr>
          <p:cNvPr id="6" name="phone1"/>
          <p:cNvSpPr/>
          <p:nvPr/>
        </p:nvSpPr>
        <p:spPr>
          <a:xfrm>
            <a:off x="3276600" y="1981200"/>
            <a:ext cx="2692400" cy="5537200"/>
          </a:xfrm>
          <a:prstGeom prst="roundRect">
            <a:avLst>
              <a:gd name="adj" fmla="val 16000"/>
            </a:avLst>
          </a:prstGeom>
          <a:solidFill>
            <a:srgbClr val="1D1D1F"/>
          </a:solidFill>
          <a:ln>
            <a:noFill/>
          </a:ln>
          <a:effectLst>
            <a:outerShdw blurRad="609600" dist="304800" dir="5400000" sx="100000" sy="100000" kx="0" ky="0" algn="bl" rotWithShape="0">
              <a:srgbClr val="000000">
                <a:alpha val="14118"/>
              </a:srgbClr>
            </a:outerShdw>
          </a:effectLst>
        </p:spPr>
      </p:sp>
      <p:pic>
        <p:nvPicPr>
          <p:cNvPr id="7" name="phone1-img"/>
          <p:cNvPicPr/>
          <p:nvPr/>
        </p:nvPicPr>
        <p:blipFill>
          <a:blip r:embed="rId2"/>
          <a:srcRect l="59" r="59"/>
          <a:stretch>
            <a:fillRect/>
          </a:stretch>
        </p:blipFill>
        <p:spPr>
          <a:xfrm>
            <a:off x="3403600" y="2108200"/>
            <a:ext cx="2438400" cy="5283200"/>
          </a:xfrm>
          <a:prstGeom prst="roundRect">
            <a:avLst>
              <a:gd name="adj" fmla="val 12500"/>
            </a:avLst>
          </a:prstGeom>
          <a:ln>
            <a:noFill/>
          </a:ln>
        </p:spPr>
      </p:pic>
      <p:sp>
        <p:nvSpPr>
          <p:cNvPr id="8" name="phone1-cap"/>
          <p:cNvSpPr txBox="1"/>
          <p:nvPr/>
        </p:nvSpPr>
        <p:spPr>
          <a:xfrm>
            <a:off x="3479800" y="7696200"/>
            <a:ext cx="22987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330" noProof="1" b="1" spc="190" kern="0">
                <a:solidFill>
                  <a:srgbClr val="0071E3"/>
                </a:solidFill>
                <a:latin typeface="MiSans"/>
                <a:ea typeface="MiSans"/>
              </a:rPr>
              <a:t>S1</a:t>
            </a:r>
            <a:r>
              <a:rPr lang="en-US" sz="1330" noProof="1" spc="190" kern="0">
                <a:solidFill>
                  <a:srgbClr val="6E6E73"/>
                </a:solidFill>
                <a:latin typeface="MiSans"/>
                <a:ea typeface="MiSans"/>
              </a:rPr>
              <a:t>　路徑 · 7 天學習地圖</a:t>
            </a:r>
            <a:endParaRPr lang="en-US" sz="1330" noProof="1"/>
          </a:p>
        </p:txBody>
      </p:sp>
      <p:sp>
        <p:nvSpPr>
          <p:cNvPr id="9" name="phone2"/>
          <p:cNvSpPr/>
          <p:nvPr/>
        </p:nvSpPr>
        <p:spPr>
          <a:xfrm>
            <a:off x="6781800" y="1981200"/>
            <a:ext cx="2692400" cy="5537200"/>
          </a:xfrm>
          <a:prstGeom prst="roundRect">
            <a:avLst>
              <a:gd name="adj" fmla="val 16000"/>
            </a:avLst>
          </a:prstGeom>
          <a:solidFill>
            <a:srgbClr val="1D1D1F"/>
          </a:solidFill>
          <a:ln>
            <a:noFill/>
          </a:ln>
          <a:effectLst>
            <a:outerShdw blurRad="609600" dist="304800" dir="5400000" sx="100000" sy="100000" kx="0" ky="0" algn="bl" rotWithShape="0">
              <a:srgbClr val="000000">
                <a:alpha val="14118"/>
              </a:srgbClr>
            </a:outerShdw>
          </a:effectLst>
        </p:spPr>
      </p:sp>
      <p:pic>
        <p:nvPicPr>
          <p:cNvPr id="10" name="phone2-img"/>
          <p:cNvPicPr/>
          <p:nvPr/>
        </p:nvPicPr>
        <p:blipFill>
          <a:blip r:embed="rId3"/>
          <a:srcRect l="59" r="59"/>
          <a:stretch>
            <a:fillRect/>
          </a:stretch>
        </p:blipFill>
        <p:spPr>
          <a:xfrm>
            <a:off x="6908800" y="2108200"/>
            <a:ext cx="2438400" cy="5283200"/>
          </a:xfrm>
          <a:prstGeom prst="roundRect">
            <a:avLst>
              <a:gd name="adj" fmla="val 12500"/>
            </a:avLst>
          </a:prstGeom>
          <a:ln>
            <a:noFill/>
          </a:ln>
        </p:spPr>
      </p:pic>
      <p:sp>
        <p:nvSpPr>
          <p:cNvPr id="11" name="phone2-cap"/>
          <p:cNvSpPr txBox="1"/>
          <p:nvPr/>
        </p:nvSpPr>
        <p:spPr>
          <a:xfrm>
            <a:off x="6972300" y="7696200"/>
            <a:ext cx="23114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330" noProof="1" b="1" spc="190" kern="0">
                <a:solidFill>
                  <a:srgbClr val="0071E3"/>
                </a:solidFill>
                <a:latin typeface="MiSans"/>
                <a:ea typeface="MiSans"/>
              </a:rPr>
              <a:t>S2</a:t>
            </a:r>
            <a:r>
              <a:rPr lang="en-US" sz="1330" noProof="1" spc="190" kern="0">
                <a:solidFill>
                  <a:srgbClr val="6E6E73"/>
                </a:solidFill>
                <a:latin typeface="MiSans"/>
                <a:ea typeface="MiSans"/>
              </a:rPr>
              <a:t>　輸出 · 分身草稿批准</a:t>
            </a:r>
            <a:endParaRPr lang="en-US" sz="1330" noProof="1"/>
          </a:p>
        </p:txBody>
      </p:sp>
      <p:sp>
        <p:nvSpPr>
          <p:cNvPr id="12" name="phone3"/>
          <p:cNvSpPr/>
          <p:nvPr/>
        </p:nvSpPr>
        <p:spPr>
          <a:xfrm>
            <a:off x="10287000" y="1981200"/>
            <a:ext cx="2692400" cy="5537200"/>
          </a:xfrm>
          <a:prstGeom prst="roundRect">
            <a:avLst>
              <a:gd name="adj" fmla="val 16000"/>
            </a:avLst>
          </a:prstGeom>
          <a:solidFill>
            <a:srgbClr val="1D1D1F"/>
          </a:solidFill>
          <a:ln>
            <a:noFill/>
          </a:ln>
          <a:effectLst>
            <a:outerShdw blurRad="609600" dist="304800" dir="5400000" sx="100000" sy="100000" kx="0" ky="0" algn="bl" rotWithShape="0">
              <a:srgbClr val="000000">
                <a:alpha val="14118"/>
              </a:srgbClr>
            </a:outerShdw>
          </a:effectLst>
        </p:spPr>
      </p:sp>
      <p:pic>
        <p:nvPicPr>
          <p:cNvPr id="13" name="phone3-img"/>
          <p:cNvPicPr/>
          <p:nvPr/>
        </p:nvPicPr>
        <p:blipFill>
          <a:blip r:embed="rId4"/>
          <a:srcRect l="59" r="59"/>
          <a:stretch>
            <a:fillRect/>
          </a:stretch>
        </p:blipFill>
        <p:spPr>
          <a:xfrm>
            <a:off x="10414000" y="2108200"/>
            <a:ext cx="2438400" cy="5283200"/>
          </a:xfrm>
          <a:prstGeom prst="roundRect">
            <a:avLst>
              <a:gd name="adj" fmla="val 12500"/>
            </a:avLst>
          </a:prstGeom>
          <a:ln>
            <a:noFill/>
          </a:ln>
        </p:spPr>
      </p:pic>
      <p:sp>
        <p:nvSpPr>
          <p:cNvPr id="14" name="phone3-cap"/>
          <p:cNvSpPr txBox="1"/>
          <p:nvPr/>
        </p:nvSpPr>
        <p:spPr>
          <a:xfrm>
            <a:off x="10401300" y="7696200"/>
            <a:ext cx="24638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330" noProof="1" b="1" spc="190" kern="0">
                <a:solidFill>
                  <a:srgbClr val="0071E3"/>
                </a:solidFill>
                <a:latin typeface="MiSans"/>
                <a:ea typeface="MiSans"/>
              </a:rPr>
              <a:t>S3</a:t>
            </a:r>
            <a:r>
              <a:rPr lang="en-US" sz="1330" noProof="1" spc="190" kern="0">
                <a:solidFill>
                  <a:srgbClr val="6E6E73"/>
                </a:solidFill>
                <a:latin typeface="MiSans"/>
                <a:ea typeface="MiSans"/>
              </a:rPr>
              <a:t>　引擎 · 當日生成 Feed</a:t>
            </a:r>
            <a:endParaRPr lang="en-US" sz="1330" noProof="1"/>
          </a:p>
        </p:txBody>
      </p:sp>
      <p:sp>
        <p:nvSpPr>
          <p:cNvPr id="15" name="footer-left"/>
          <p:cNvSpPr txBox="1"/>
          <p:nvPr/>
        </p:nvSpPr>
        <p:spPr>
          <a:xfrm>
            <a:off x="1066800" y="8597900"/>
            <a:ext cx="508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spc="190" kern="0">
                <a:solidFill>
                  <a:srgbClr val="6E6E73"/>
                </a:solidFill>
                <a:latin typeface="MiSans"/>
                <a:ea typeface="MiSans"/>
              </a:rPr>
              <a:t>KNOWFEED PITCH DECK</a:t>
            </a:r>
            <a:endParaRPr lang="en-US" sz="1200" noProof="1"/>
          </a:p>
        </p:txBody>
      </p:sp>
      <p:sp>
        <p:nvSpPr>
          <p:cNvPr id="16" name="footer-right"/>
          <p:cNvSpPr txBox="1"/>
          <p:nvPr/>
        </p:nvSpPr>
        <p:spPr>
          <a:xfrm>
            <a:off x="13919200" y="8597900"/>
            <a:ext cx="127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200" noProof="1" b="1" spc="190" kern="0">
                <a:solidFill>
                  <a:srgbClr val="1D1D1F"/>
                </a:solidFill>
                <a:latin typeface="MiSans"/>
                <a:ea typeface="MiSans"/>
              </a:rPr>
              <a:t>04 / 12</a:t>
            </a:r>
            <a:endParaRPr lang="en-US" sz="12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tick"/>
          <p:cNvSpPr/>
          <p:nvPr/>
        </p:nvSpPr>
        <p:spPr>
          <a:xfrm>
            <a:off x="1066800" y="711200"/>
            <a:ext cx="355600" cy="381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</p:sp>
      <p:sp>
        <p:nvSpPr>
          <p:cNvPr id="3" name="header-title"/>
          <p:cNvSpPr txBox="1"/>
          <p:nvPr/>
        </p:nvSpPr>
        <p:spPr>
          <a:xfrm>
            <a:off x="1066800" y="901700"/>
            <a:ext cx="1143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 spc="-60" kern="0">
                <a:solidFill>
                  <a:srgbClr val="1D1D1F"/>
                </a:solidFill>
                <a:latin typeface="MiSans"/>
                <a:ea typeface="MiSans"/>
              </a:rPr>
              <a:t>核心差異化：不是另一個網課平台</a:t>
            </a:r>
            <a:endParaRPr lang="en-US" sz="4000" noProof="1"/>
          </a:p>
        </p:txBody>
      </p:sp>
      <p:sp>
        <p:nvSpPr>
          <p:cNvPr id="4" name="header-tag"/>
          <p:cNvSpPr txBox="1"/>
          <p:nvPr/>
        </p:nvSpPr>
        <p:spPr>
          <a:xfrm>
            <a:off x="11379200" y="11811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spc="280" kern="0">
                <a:solidFill>
                  <a:srgbClr val="6E6E73"/>
                </a:solidFill>
                <a:latin typeface="MiSans"/>
                <a:ea typeface="MiSans"/>
              </a:rPr>
              <a:t>04 / ADVANTAGE</a:t>
            </a:r>
            <a:endParaRPr lang="en-US" sz="1400" noProof="1"/>
          </a:p>
        </p:txBody>
      </p:sp>
      <p:sp>
        <p:nvSpPr>
          <p:cNvPr id="5" name="header-line"/>
          <p:cNvSpPr/>
          <p:nvPr/>
        </p:nvSpPr>
        <p:spPr>
          <a:xfrm>
            <a:off x="1066800" y="1727200"/>
            <a:ext cx="14122400" cy="12700"/>
          </a:xfrm>
          <a:prstGeom prst="rect">
            <a:avLst/>
          </a:prstGeom>
          <a:solidFill>
            <a:srgbClr val="E6E6E9"/>
          </a:solidFill>
          <a:ln>
            <a:noFill/>
          </a:ln>
        </p:spPr>
      </p:sp>
      <p:graphicFrame>
        <p:nvGraphicFramePr>
          <p:cNvPr id="6" name="cmp-table"/>
          <p:cNvGraphicFramePr>
            <a:graphicFrameLocks noGrp="1"/>
          </p:cNvGraphicFramePr>
          <p:nvPr/>
        </p:nvGraphicFramePr>
        <p:xfrm>
          <a:off x="1066800" y="2006600"/>
          <a:ext cx="14122400" cy="2870200"/>
        </p:xfrm>
        <a:graphic>
          <a:graphicData uri="http://schemas.openxmlformats.org/drawingml/2006/table">
            <a:tbl>
              <a:tblPr/>
              <a:tblGrid>
                <a:gridCol w="1398118"/>
                <a:gridCol w="3974043"/>
                <a:gridCol w="3974043"/>
                <a:gridCol w="4776196"/>
              </a:tblGrid>
              <a:tr h="558828">
                <a:tc>
                  <a:txBody>
                    <a:bodyPr wrap="square" rtlCol="0" anchor="ctr"/>
                    <a:lstStyle/>
                    <a:p>
                      <a:pPr algn="ctr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6E6E9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70" noProof="1" spc="90" kern="0">
                          <a:solidFill>
                            <a:srgbClr val="6E6E73"/>
                          </a:solidFill>
                          <a:latin typeface="Times New Roman"/>
                          <a:ea typeface="Times New Roman"/>
                        </a:rPr>
                        <a:t>傳統 MOOC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6E6E9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70" noProof="1" spc="90" kern="0">
                          <a:solidFill>
                            <a:srgbClr val="6E6E73"/>
                          </a:solidFill>
                          <a:latin typeface="Times New Roman"/>
                          <a:ea typeface="Times New Roman"/>
                        </a:rPr>
                        <a:t>短視頻學習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E6E6E9"/>
                      </a:solidFill>
                    </a:lnL>
                    <a:lnR>
                      <a:noFill/>
                    </a:lnR>
                    <a:lnT w="12700">
                      <a:solidFill>
                        <a:srgbClr val="E6E6E9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530" noProof="1" b="1" spc="90" kern="0">
                          <a:solidFill>
                            <a:srgbClr val="0071E3"/>
                          </a:solidFill>
                          <a:latin typeface="Times New Roman"/>
                          <a:ea typeface="Times New Roman"/>
                        </a:rPr>
                        <a:t>KnowFeed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E6E6E9"/>
                      </a:solidFill>
                    </a:lnL>
                    <a:lnR>
                      <a:noFill/>
                    </a:lnR>
                    <a:lnT w="12700">
                      <a:solidFill>
                        <a:srgbClr val="E6E6E9"/>
                      </a:solidFill>
                    </a:lnT>
                    <a:lnB>
                      <a:noFill/>
                    </a:lnB>
                    <a:noFill/>
                  </a:tcPr>
                </a:tc>
              </a:tr>
              <a:tr h="571457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70" noProof="1" b="1">
                          <a:solidFill>
                            <a:srgbClr val="6E6E73"/>
                          </a:solidFill>
                          <a:latin typeface="Times New Roman"/>
                          <a:ea typeface="Times New Roman"/>
                        </a:rPr>
                        <a:t>內容來源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6E6E9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530" noProof="1">
                          <a:solidFill>
                            <a:srgbClr val="6E6E73"/>
                          </a:solidFill>
                          <a:latin typeface="Times New Roman"/>
                          <a:ea typeface="Times New Roman"/>
                        </a:rPr>
                        <a:t>預錄課程，固定不變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6E6E9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530" noProof="1">
                          <a:solidFill>
                            <a:srgbClr val="6E6E73"/>
                          </a:solidFill>
                          <a:latin typeface="Times New Roman"/>
                          <a:ea typeface="Times New Roman"/>
                        </a:rPr>
                        <a:t>UGC 碎片化，無系統性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E6E6E9"/>
                      </a:solidFill>
                    </a:lnL>
                    <a:lnR>
                      <a:noFill/>
                    </a:lnR>
                    <a:lnT w="12700">
                      <a:solidFill>
                        <a:srgbClr val="E6E6E9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530" noProof="1" b="1">
                          <a:solidFill>
                            <a:srgbClr val="1D1D1F"/>
                          </a:solidFill>
                          <a:latin typeface="Times New Roman"/>
                          <a:ea typeface="Times New Roman"/>
                        </a:rPr>
                        <a:t>AI 實時生成，跟進時事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E6E6E9"/>
                      </a:solidFill>
                    </a:lnL>
                    <a:lnR>
                      <a:noFill/>
                    </a:lnR>
                    <a:lnT w="12700">
                      <a:solidFill>
                        <a:srgbClr val="E6E6E9"/>
                      </a:solidFill>
                    </a:lnT>
                    <a:lnB>
                      <a:noFill/>
                    </a:lnB>
                    <a:noFill/>
                  </a:tcPr>
                </a:tc>
              </a:tr>
              <a:tr h="571457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70" noProof="1" b="1">
                          <a:solidFill>
                            <a:srgbClr val="6E6E73"/>
                          </a:solidFill>
                          <a:latin typeface="Times New Roman"/>
                          <a:ea typeface="Times New Roman"/>
                        </a:rPr>
                        <a:t>學習路徑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6E6E9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530" noProof="1">
                          <a:solidFill>
                            <a:srgbClr val="6E6E73"/>
                          </a:solidFill>
                          <a:latin typeface="Times New Roman"/>
                          <a:ea typeface="Times New Roman"/>
                        </a:rPr>
                        <a:t>用戶自己規劃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6E6E9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530" noProof="1">
                          <a:solidFill>
                            <a:srgbClr val="6E6E73"/>
                          </a:solidFill>
                          <a:latin typeface="Times New Roman"/>
                          <a:ea typeface="Times New Roman"/>
                        </a:rPr>
                        <a:t>算法推薦，無目標導向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E6E6E9"/>
                      </a:solidFill>
                    </a:lnL>
                    <a:lnR>
                      <a:noFill/>
                    </a:lnR>
                    <a:lnT w="12700">
                      <a:solidFill>
                        <a:srgbClr val="E6E6E9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530" noProof="1" b="1">
                          <a:solidFill>
                            <a:srgbClr val="1D1D1F"/>
                          </a:solidFill>
                          <a:latin typeface="Times New Roman"/>
                          <a:ea typeface="Times New Roman"/>
                        </a:rPr>
                        <a:t>按用戶背景定制 7 天路徑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E6E6E9"/>
                      </a:solidFill>
                    </a:lnL>
                    <a:lnR>
                      <a:noFill/>
                    </a:lnR>
                    <a:lnT w="12700">
                      <a:solidFill>
                        <a:srgbClr val="E6E6E9"/>
                      </a:solidFill>
                    </a:lnT>
                    <a:lnB>
                      <a:noFill/>
                    </a:lnB>
                    <a:noFill/>
                  </a:tcPr>
                </a:tc>
              </a:tr>
              <a:tr h="571457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70" noProof="1" b="1">
                          <a:solidFill>
                            <a:srgbClr val="6E6E73"/>
                          </a:solidFill>
                          <a:latin typeface="Times New Roman"/>
                          <a:ea typeface="Times New Roman"/>
                        </a:rPr>
                        <a:t>互動形式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6E6E9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530" noProof="1">
                          <a:solidFill>
                            <a:srgbClr val="6E6E73"/>
                          </a:solidFill>
                          <a:latin typeface="Times New Roman"/>
                          <a:ea typeface="Times New Roman"/>
                        </a:rPr>
                        <a:t>討論區長文，少有人回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6E6E9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530" noProof="1">
                          <a:solidFill>
                            <a:srgbClr val="6E6E73"/>
                          </a:solidFill>
                          <a:latin typeface="Times New Roman"/>
                          <a:ea typeface="Times New Roman"/>
                        </a:rPr>
                        <a:t>評論區以娛樂為主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E6E6E9"/>
                      </a:solidFill>
                    </a:lnL>
                    <a:lnR>
                      <a:noFill/>
                    </a:lnR>
                    <a:lnT w="12700">
                      <a:solidFill>
                        <a:srgbClr val="E6E6E9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530" noProof="1" b="1">
                          <a:solidFill>
                            <a:srgbClr val="1D1D1F"/>
                          </a:solidFill>
                          <a:latin typeface="Times New Roman"/>
                          <a:ea typeface="Times New Roman"/>
                        </a:rPr>
                        <a:t>學習分身＋AI 角色，觀點碰撞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E6E6E9"/>
                      </a:solidFill>
                    </a:lnL>
                    <a:lnR>
                      <a:noFill/>
                    </a:lnR>
                    <a:lnT w="12700">
                      <a:solidFill>
                        <a:srgbClr val="E6E6E9"/>
                      </a:solidFill>
                    </a:lnT>
                    <a:lnB>
                      <a:noFill/>
                    </a:lnB>
                    <a:noFill/>
                  </a:tcPr>
                </a:tc>
              </a:tr>
              <a:tr h="59700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70" noProof="1" b="1">
                          <a:solidFill>
                            <a:srgbClr val="6E6E73"/>
                          </a:solidFill>
                          <a:latin typeface="Times New Roman"/>
                          <a:ea typeface="Times New Roman"/>
                        </a:rPr>
                        <a:t>學習成效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6E6E9"/>
                      </a:solidFill>
                    </a:lnT>
                    <a:lnB w="12700">
                      <a:solidFill>
                        <a:srgbClr val="E6E6E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530" noProof="1">
                          <a:solidFill>
                            <a:srgbClr val="6E6E73"/>
                          </a:solidFill>
                          <a:latin typeface="Times New Roman"/>
                          <a:ea typeface="Times New Roman"/>
                        </a:rPr>
                        <a:t>被動觀看，缺乏輸出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6E6E9"/>
                      </a:solidFill>
                    </a:lnT>
                    <a:lnB w="12700">
                      <a:solidFill>
                        <a:srgbClr val="E6E6E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530" noProof="1">
                          <a:solidFill>
                            <a:srgbClr val="6E6E73"/>
                          </a:solidFill>
                          <a:latin typeface="Times New Roman"/>
                          <a:ea typeface="Times New Roman"/>
                        </a:rPr>
                        <a:t>看完即忘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E6E6E9"/>
                      </a:solidFill>
                    </a:lnL>
                    <a:lnR>
                      <a:noFill/>
                    </a:lnR>
                    <a:lnT w="12700">
                      <a:solidFill>
                        <a:srgbClr val="E6E6E9"/>
                      </a:solidFill>
                    </a:lnT>
                    <a:lnB w="12700">
                      <a:solidFill>
                        <a:srgbClr val="E6E6E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530" noProof="1" b="1">
                          <a:solidFill>
                            <a:srgbClr val="1D1D1F"/>
                          </a:solidFill>
                          <a:latin typeface="Times New Roman"/>
                          <a:ea typeface="Times New Roman"/>
                        </a:rPr>
                        <a:t>費曼輸出＋間隔重複，雙重鞏固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E6E6E9"/>
                      </a:solidFill>
                    </a:lnL>
                    <a:lnR>
                      <a:noFill/>
                    </a:lnR>
                    <a:lnT w="12700">
                      <a:solidFill>
                        <a:srgbClr val="E6E6E9"/>
                      </a:solidFill>
                    </a:lnT>
                    <a:lnB w="12700">
                      <a:solidFill>
                        <a:srgbClr val="E6E6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landscape"/>
          <p:cNvSpPr txBox="1"/>
          <p:nvPr/>
        </p:nvSpPr>
        <p:spPr>
          <a:xfrm>
            <a:off x="1066800" y="5181600"/>
            <a:ext cx="14122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 b="1">
                <a:solidFill>
                  <a:srgbClr val="6E6E73"/>
                </a:solidFill>
                <a:latin typeface="MiSans"/>
                <a:ea typeface="MiSans"/>
              </a:rPr>
              <a:t>競爭格局</a:t>
            </a: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——Duolingo 僅語言、Knowt 僅考試、Zest 僅 B2B 微學習；「任意主題＋社交 Feed＋學習分身」的組合</a:t>
            </a:r>
            <a:r>
              <a:rPr lang="en-US" sz="1400" noProof="1" b="1">
                <a:solidFill>
                  <a:srgbClr val="0071E3"/>
                </a:solidFill>
                <a:latin typeface="MiSans"/>
                <a:ea typeface="MiSans"/>
              </a:rPr>
              <a:t>目前無直接對標產品</a:t>
            </a: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，分身網絡構成關係資產壁壘。</a:t>
            </a:r>
            <a:endParaRPr lang="en-US" sz="1400" noProof="1"/>
          </a:p>
        </p:txBody>
      </p:sp>
      <p:sp>
        <p:nvSpPr>
          <p:cNvPr id="8" name="quote-bar"/>
          <p:cNvSpPr/>
          <p:nvPr/>
        </p:nvSpPr>
        <p:spPr>
          <a:xfrm>
            <a:off x="1066800" y="5765800"/>
            <a:ext cx="38100" cy="431800"/>
          </a:xfrm>
          <a:prstGeom prst="rect">
            <a:avLst/>
          </a:prstGeom>
          <a:solidFill>
            <a:srgbClr val="0071E3"/>
          </a:solidFill>
          <a:ln>
            <a:noFill/>
          </a:ln>
        </p:spPr>
      </p:sp>
      <p:sp>
        <p:nvSpPr>
          <p:cNvPr id="9" name="quote-text"/>
          <p:cNvSpPr txBox="1"/>
          <p:nvPr/>
        </p:nvSpPr>
        <p:spPr>
          <a:xfrm>
            <a:off x="1409700" y="5791200"/>
            <a:ext cx="137795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1D1D1F"/>
                </a:solidFill>
                <a:latin typeface="MiSans"/>
                <a:ea typeface="MiSans"/>
              </a:rPr>
              <a:t>KnowFeed 把「刷手機」這個最高頻的日常行為，直接轉化為結構化學習——</a:t>
            </a:r>
            <a:r>
              <a:rPr lang="en-US" sz="2000" noProof="1" b="1">
                <a:solidFill>
                  <a:srgbClr val="0071E3"/>
                </a:solidFill>
                <a:latin typeface="MiSans"/>
                <a:ea typeface="MiSans"/>
              </a:rPr>
              <a:t>不改變用戶習慣，只改變內容供給。</a:t>
            </a:r>
            <a:endParaRPr lang="en-US" sz="2000" noProof="1"/>
          </a:p>
        </p:txBody>
      </p:sp>
      <p:sp>
        <p:nvSpPr>
          <p:cNvPr id="10" name="footer-left"/>
          <p:cNvSpPr txBox="1"/>
          <p:nvPr/>
        </p:nvSpPr>
        <p:spPr>
          <a:xfrm>
            <a:off x="1066800" y="8597900"/>
            <a:ext cx="508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spc="190" kern="0">
                <a:solidFill>
                  <a:srgbClr val="6E6E73"/>
                </a:solidFill>
                <a:latin typeface="MiSans"/>
                <a:ea typeface="MiSans"/>
              </a:rPr>
              <a:t>KNOWFEED PITCH DECK</a:t>
            </a:r>
            <a:endParaRPr lang="en-US" sz="1200" noProof="1"/>
          </a:p>
        </p:txBody>
      </p:sp>
      <p:sp>
        <p:nvSpPr>
          <p:cNvPr id="11" name="footer-right"/>
          <p:cNvSpPr txBox="1"/>
          <p:nvPr/>
        </p:nvSpPr>
        <p:spPr>
          <a:xfrm>
            <a:off x="13919200" y="8597900"/>
            <a:ext cx="127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200" noProof="1" b="1" spc="190" kern="0">
                <a:solidFill>
                  <a:srgbClr val="1D1D1F"/>
                </a:solidFill>
                <a:latin typeface="MiSans"/>
                <a:ea typeface="MiSans"/>
              </a:rPr>
              <a:t>05 / 12</a:t>
            </a:r>
            <a:endParaRPr lang="en-US" sz="12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tick"/>
          <p:cNvSpPr/>
          <p:nvPr/>
        </p:nvSpPr>
        <p:spPr>
          <a:xfrm>
            <a:off x="1066800" y="711200"/>
            <a:ext cx="355600" cy="381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</p:sp>
      <p:sp>
        <p:nvSpPr>
          <p:cNvPr id="3" name="header-title"/>
          <p:cNvSpPr txBox="1"/>
          <p:nvPr/>
        </p:nvSpPr>
        <p:spPr>
          <a:xfrm>
            <a:off x="1066800" y="9017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470" noProof="1" b="1" spc="-50" kern="0">
                <a:solidFill>
                  <a:srgbClr val="1D1D1F"/>
                </a:solidFill>
                <a:latin typeface="MiSans"/>
                <a:ea typeface="MiSans"/>
              </a:rPr>
              <a:t>創新及創意：內容引擎與內化機制</a:t>
            </a:r>
            <a:endParaRPr lang="en-US" sz="3470" noProof="1"/>
          </a:p>
        </p:txBody>
      </p:sp>
      <p:sp>
        <p:nvSpPr>
          <p:cNvPr id="4" name="header-tag"/>
          <p:cNvSpPr txBox="1"/>
          <p:nvPr/>
        </p:nvSpPr>
        <p:spPr>
          <a:xfrm>
            <a:off x="11379200" y="11049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spc="280" kern="0">
                <a:solidFill>
                  <a:srgbClr val="6E6E73"/>
                </a:solidFill>
                <a:latin typeface="MiSans"/>
                <a:ea typeface="MiSans"/>
              </a:rPr>
              <a:t>05 / INNOVATION</a:t>
            </a:r>
            <a:endParaRPr lang="en-US" sz="1400" noProof="1"/>
          </a:p>
        </p:txBody>
      </p:sp>
      <p:sp>
        <p:nvSpPr>
          <p:cNvPr id="5" name="header-line"/>
          <p:cNvSpPr/>
          <p:nvPr/>
        </p:nvSpPr>
        <p:spPr>
          <a:xfrm>
            <a:off x="1066800" y="1651000"/>
            <a:ext cx="14122400" cy="12700"/>
          </a:xfrm>
          <a:prstGeom prst="rect">
            <a:avLst/>
          </a:prstGeom>
          <a:solidFill>
            <a:srgbClr val="E6E6E9"/>
          </a:solidFill>
          <a:ln>
            <a:noFill/>
          </a:ln>
        </p:spPr>
      </p:sp>
      <p:sp>
        <p:nvSpPr>
          <p:cNvPr id="6" name="eng-bar"/>
          <p:cNvSpPr/>
          <p:nvPr/>
        </p:nvSpPr>
        <p:spPr>
          <a:xfrm>
            <a:off x="1066800" y="1955800"/>
            <a:ext cx="38100" cy="1498600"/>
          </a:xfrm>
          <a:prstGeom prst="rect">
            <a:avLst/>
          </a:prstGeom>
          <a:solidFill>
            <a:srgbClr val="0071E3"/>
          </a:solidFill>
          <a:ln>
            <a:noFill/>
          </a:ln>
        </p:spPr>
      </p:sp>
      <p:sp>
        <p:nvSpPr>
          <p:cNvPr id="7" name="eng-h4"/>
          <p:cNvSpPr txBox="1"/>
          <p:nvPr/>
        </p:nvSpPr>
        <p:spPr>
          <a:xfrm>
            <a:off x="1435100" y="1955800"/>
            <a:ext cx="4914900" cy="393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130" noProof="1" b="1">
                <a:solidFill>
                  <a:srgbClr val="1D1D1F"/>
                </a:solidFill>
                <a:latin typeface="MiSans"/>
                <a:ea typeface="MiSans"/>
              </a:rPr>
              <a:t>任意主題 AI 課程生成引擎</a:t>
            </a:r>
            <a:endParaRPr lang="en-US" sz="2130" noProof="1"/>
          </a:p>
        </p:txBody>
      </p:sp>
      <p:sp>
        <p:nvSpPr>
          <p:cNvPr id="8" name="eng-p1"/>
          <p:cNvSpPr txBox="1"/>
          <p:nvPr/>
        </p:nvSpPr>
        <p:spPr>
          <a:xfrm>
            <a:off x="1435100" y="2501900"/>
            <a:ext cx="49149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1D1D1F"/>
                </a:solidFill>
                <a:latin typeface="MiSans"/>
                <a:ea typeface="MiSans"/>
              </a:rPr>
              <a:t>率先實現「任意主題」的個人化課程生成，無需預設課程庫。</a:t>
            </a:r>
            <a:endParaRPr lang="en-US" sz="1400" noProof="1"/>
          </a:p>
        </p:txBody>
      </p:sp>
      <p:sp>
        <p:nvSpPr>
          <p:cNvPr id="9" name="eng-p2"/>
          <p:cNvSpPr txBox="1"/>
          <p:nvPr/>
        </p:nvSpPr>
        <p:spPr>
          <a:xfrm>
            <a:off x="1435100" y="2882900"/>
            <a:ext cx="49149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打破傳統教育的師資與內容產能瓶頸，讓高質量課程第一次可以按需生產。</a:t>
            </a:r>
            <a:endParaRPr lang="en-US" sz="1400" noProof="1"/>
          </a:p>
        </p:txBody>
      </p:sp>
      <p:sp>
        <p:nvSpPr>
          <p:cNvPr id="10" name="eng-card"/>
          <p:cNvSpPr/>
          <p:nvPr/>
        </p:nvSpPr>
        <p:spPr>
          <a:xfrm>
            <a:off x="6756400" y="1955800"/>
            <a:ext cx="8432800" cy="1498600"/>
          </a:xfrm>
          <a:prstGeom prst="roundRect">
            <a:avLst>
              <a:gd name="adj" fmla="val 152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11" name="eng-s1-title"/>
          <p:cNvSpPr txBox="1"/>
          <p:nvPr/>
        </p:nvSpPr>
        <p:spPr>
          <a:xfrm>
            <a:off x="7035800" y="2324100"/>
            <a:ext cx="1574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530" noProof="1" b="1">
                <a:solidFill>
                  <a:srgbClr val="1D1D1F"/>
                </a:solidFill>
                <a:latin typeface="MiSans"/>
                <a:ea typeface="MiSans"/>
              </a:rPr>
              <a:t>領域輸入</a:t>
            </a:r>
            <a:endParaRPr lang="en-US" sz="1530" noProof="1"/>
          </a:p>
        </p:txBody>
      </p:sp>
      <p:sp>
        <p:nvSpPr>
          <p:cNvPr id="12" name="eng-s1-desc"/>
          <p:cNvSpPr txBox="1"/>
          <p:nvPr/>
        </p:nvSpPr>
        <p:spPr>
          <a:xfrm>
            <a:off x="7035800" y="2667000"/>
            <a:ext cx="1574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200" noProof="1">
                <a:solidFill>
                  <a:srgbClr val="6E6E73"/>
                </a:solidFill>
                <a:latin typeface="MiSans"/>
                <a:ea typeface="MiSans"/>
              </a:rPr>
              <a:t>用戶指定目標</a:t>
            </a:r>
            <a:endParaRPr lang="en-US" sz="1200" noProof="1"/>
          </a:p>
          <a:p>
            <a:pPr algn="ctr">
              <a:lnSpc>
                <a:spcPct val="140000"/>
              </a:lnSpc>
            </a:pPr>
            <a:r>
              <a:rPr lang="en-US" sz="1200" noProof="1">
                <a:solidFill>
                  <a:srgbClr val="6E6E73"/>
                </a:solidFill>
                <a:latin typeface="MiSans"/>
                <a:ea typeface="MiSans"/>
              </a:rPr>
              <a:t>（如 Fintech）</a:t>
            </a:r>
            <a:endParaRPr lang="en-US" sz="1200" noProof="1"/>
          </a:p>
        </p:txBody>
      </p:sp>
      <p:sp>
        <p:nvSpPr>
          <p:cNvPr id="13" name="eng-arrow1"/>
          <p:cNvSpPr txBox="1"/>
          <p:nvPr/>
        </p:nvSpPr>
        <p:spPr>
          <a:xfrm>
            <a:off x="8763000" y="2540000"/>
            <a:ext cx="215900" cy="317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30" noProof="1" b="1">
                <a:solidFill>
                  <a:srgbClr val="0071E3"/>
                </a:solidFill>
                <a:latin typeface="MiSans"/>
                <a:ea typeface="MiSans"/>
              </a:rPr>
              <a:t>→</a:t>
            </a:r>
            <a:endParaRPr lang="en-US" sz="1730" noProof="1"/>
          </a:p>
        </p:txBody>
      </p:sp>
      <p:sp>
        <p:nvSpPr>
          <p:cNvPr id="14" name="eng-s2-title"/>
          <p:cNvSpPr txBox="1"/>
          <p:nvPr/>
        </p:nvSpPr>
        <p:spPr>
          <a:xfrm>
            <a:off x="9144000" y="2324100"/>
            <a:ext cx="1574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530" noProof="1" b="1">
                <a:solidFill>
                  <a:srgbClr val="1D1D1F"/>
                </a:solidFill>
                <a:latin typeface="MiSans"/>
                <a:ea typeface="MiSans"/>
              </a:rPr>
              <a:t>實時研究</a:t>
            </a:r>
            <a:endParaRPr lang="en-US" sz="1530" noProof="1"/>
          </a:p>
        </p:txBody>
      </p:sp>
      <p:sp>
        <p:nvSpPr>
          <p:cNvPr id="15" name="eng-s2-desc"/>
          <p:cNvSpPr txBox="1"/>
          <p:nvPr/>
        </p:nvSpPr>
        <p:spPr>
          <a:xfrm>
            <a:off x="9144000" y="2667000"/>
            <a:ext cx="1574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200" noProof="1">
                <a:solidFill>
                  <a:srgbClr val="6E6E73"/>
                </a:solidFill>
                <a:latin typeface="MiSans"/>
                <a:ea typeface="MiSans"/>
              </a:rPr>
              <a:t>檢索＋Wiki 溯源</a:t>
            </a:r>
            <a:endParaRPr lang="en-US" sz="1200" noProof="1"/>
          </a:p>
          <a:p>
            <a:pPr algn="ctr">
              <a:lnSpc>
                <a:spcPct val="140000"/>
              </a:lnSpc>
            </a:pPr>
            <a:r>
              <a:rPr lang="en-US" sz="1200" noProof="1">
                <a:solidFill>
                  <a:srgbClr val="6E6E73"/>
                </a:solidFill>
                <a:latin typeface="MiSans"/>
                <a:ea typeface="MiSans"/>
              </a:rPr>
              <a:t>消除知識滯後</a:t>
            </a:r>
            <a:endParaRPr lang="en-US" sz="1200" noProof="1"/>
          </a:p>
        </p:txBody>
      </p:sp>
      <p:sp>
        <p:nvSpPr>
          <p:cNvPr id="16" name="eng-arrow2"/>
          <p:cNvSpPr txBox="1"/>
          <p:nvPr/>
        </p:nvSpPr>
        <p:spPr>
          <a:xfrm>
            <a:off x="10871200" y="2540000"/>
            <a:ext cx="215900" cy="317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30" noProof="1" b="1">
                <a:solidFill>
                  <a:srgbClr val="0071E3"/>
                </a:solidFill>
                <a:latin typeface="MiSans"/>
                <a:ea typeface="MiSans"/>
              </a:rPr>
              <a:t>→</a:t>
            </a:r>
            <a:endParaRPr lang="en-US" sz="1730" noProof="1"/>
          </a:p>
        </p:txBody>
      </p:sp>
      <p:sp>
        <p:nvSpPr>
          <p:cNvPr id="17" name="eng-s3-title"/>
          <p:cNvSpPr txBox="1"/>
          <p:nvPr/>
        </p:nvSpPr>
        <p:spPr>
          <a:xfrm>
            <a:off x="11239500" y="2324100"/>
            <a:ext cx="1574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530" noProof="1" b="1">
                <a:solidFill>
                  <a:srgbClr val="1D1D1F"/>
                </a:solidFill>
                <a:latin typeface="MiSans"/>
                <a:ea typeface="MiSans"/>
              </a:rPr>
              <a:t>本地驗證</a:t>
            </a:r>
            <a:endParaRPr lang="en-US" sz="1530" noProof="1"/>
          </a:p>
        </p:txBody>
      </p:sp>
      <p:sp>
        <p:nvSpPr>
          <p:cNvPr id="18" name="eng-s3-desc"/>
          <p:cNvSpPr txBox="1"/>
          <p:nvPr/>
        </p:nvSpPr>
        <p:spPr>
          <a:xfrm>
            <a:off x="11239500" y="2667000"/>
            <a:ext cx="1574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200" noProof="1">
                <a:solidFill>
                  <a:srgbClr val="6E6E73"/>
                </a:solidFill>
                <a:latin typeface="MiSans"/>
                <a:ea typeface="MiSans"/>
              </a:rPr>
              <a:t>嚴控邏輯與順序</a:t>
            </a:r>
            <a:endParaRPr lang="en-US" sz="1200" noProof="1"/>
          </a:p>
          <a:p>
            <a:pPr algn="ctr">
              <a:lnSpc>
                <a:spcPct val="140000"/>
              </a:lnSpc>
            </a:pPr>
            <a:r>
              <a:rPr lang="en-US" sz="1200" noProof="1">
                <a:solidFill>
                  <a:srgbClr val="6E6E73"/>
                </a:solidFill>
                <a:latin typeface="MiSans"/>
                <a:ea typeface="MiSans"/>
              </a:rPr>
              <a:t>防止 AI 幻覺</a:t>
            </a:r>
            <a:endParaRPr lang="en-US" sz="1200" noProof="1"/>
          </a:p>
        </p:txBody>
      </p:sp>
      <p:sp>
        <p:nvSpPr>
          <p:cNvPr id="19" name="eng-arrow3"/>
          <p:cNvSpPr txBox="1"/>
          <p:nvPr/>
        </p:nvSpPr>
        <p:spPr>
          <a:xfrm>
            <a:off x="12966700" y="2540000"/>
            <a:ext cx="215900" cy="317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30" noProof="1" b="1">
                <a:solidFill>
                  <a:srgbClr val="0071E3"/>
                </a:solidFill>
                <a:latin typeface="MiSans"/>
                <a:ea typeface="MiSans"/>
              </a:rPr>
              <a:t>→</a:t>
            </a:r>
            <a:endParaRPr lang="en-US" sz="1730" noProof="1"/>
          </a:p>
        </p:txBody>
      </p:sp>
      <p:sp>
        <p:nvSpPr>
          <p:cNvPr id="20" name="eng-s4-title"/>
          <p:cNvSpPr txBox="1"/>
          <p:nvPr/>
        </p:nvSpPr>
        <p:spPr>
          <a:xfrm>
            <a:off x="13335000" y="2324100"/>
            <a:ext cx="1574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530" noProof="1" b="1">
                <a:solidFill>
                  <a:srgbClr val="0071E3"/>
                </a:solidFill>
                <a:latin typeface="MiSans"/>
                <a:ea typeface="MiSans"/>
              </a:rPr>
              <a:t>專屬路徑</a:t>
            </a:r>
            <a:endParaRPr lang="en-US" sz="1530" noProof="1"/>
          </a:p>
        </p:txBody>
      </p:sp>
      <p:sp>
        <p:nvSpPr>
          <p:cNvPr id="21" name="eng-s4-desc"/>
          <p:cNvSpPr txBox="1"/>
          <p:nvPr/>
        </p:nvSpPr>
        <p:spPr>
          <a:xfrm>
            <a:off x="13335000" y="2667000"/>
            <a:ext cx="1574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200" noProof="1">
                <a:solidFill>
                  <a:srgbClr val="6E6E73"/>
                </a:solidFill>
                <a:latin typeface="MiSans"/>
                <a:ea typeface="MiSans"/>
              </a:rPr>
              <a:t>7 天結構化課程</a:t>
            </a:r>
            <a:endParaRPr lang="en-US" sz="1200" noProof="1"/>
          </a:p>
          <a:p>
            <a:pPr algn="ctr">
              <a:lnSpc>
                <a:spcPct val="140000"/>
              </a:lnSpc>
            </a:pPr>
            <a:r>
              <a:rPr lang="en-US" sz="1200" noProof="1">
                <a:solidFill>
                  <a:srgbClr val="6E6E73"/>
                </a:solidFill>
                <a:latin typeface="MiSans"/>
                <a:ea typeface="MiSans"/>
              </a:rPr>
              <a:t>秒級生成</a:t>
            </a:r>
            <a:endParaRPr lang="en-US" sz="1200" noProof="1"/>
          </a:p>
        </p:txBody>
      </p:sp>
      <p:sp>
        <p:nvSpPr>
          <p:cNvPr id="22" name="feynman-card"/>
          <p:cNvSpPr/>
          <p:nvPr/>
        </p:nvSpPr>
        <p:spPr>
          <a:xfrm>
            <a:off x="1066800" y="3784600"/>
            <a:ext cx="14122400" cy="4648200"/>
          </a:xfrm>
          <a:prstGeom prst="roundRect">
            <a:avLst>
              <a:gd name="adj" fmla="val 49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23" name="feynman-h4"/>
          <p:cNvSpPr txBox="1"/>
          <p:nvPr/>
        </p:nvSpPr>
        <p:spPr>
          <a:xfrm>
            <a:off x="1473200" y="4089400"/>
            <a:ext cx="13309600" cy="393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2130" noProof="1" b="1">
                <a:solidFill>
                  <a:srgbClr val="1D1D1F"/>
                </a:solidFill>
                <a:latin typeface="MiSans"/>
                <a:ea typeface="MiSans"/>
              </a:rPr>
              <a:t>率先將「費曼學習法」產品化</a:t>
            </a:r>
            <a:endParaRPr lang="en-US" sz="2130" noProof="1"/>
          </a:p>
        </p:txBody>
      </p:sp>
      <p:sp>
        <p:nvSpPr>
          <p:cNvPr id="24" name="feynman-l-title"/>
          <p:cNvSpPr txBox="1"/>
          <p:nvPr/>
        </p:nvSpPr>
        <p:spPr>
          <a:xfrm>
            <a:off x="1473200" y="5702300"/>
            <a:ext cx="6045200" cy="317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730" noProof="1" b="1">
                <a:solidFill>
                  <a:srgbClr val="1D1D1F"/>
                </a:solidFill>
                <a:latin typeface="MiSans"/>
                <a:ea typeface="MiSans"/>
              </a:rPr>
              <a:t>強制輸出內化</a:t>
            </a:r>
            <a:endParaRPr lang="en-US" sz="1730" noProof="1"/>
          </a:p>
        </p:txBody>
      </p:sp>
      <p:sp>
        <p:nvSpPr>
          <p:cNvPr id="25" name="feynman-l-desc"/>
          <p:cNvSpPr txBox="1"/>
          <p:nvPr/>
        </p:nvSpPr>
        <p:spPr>
          <a:xfrm>
            <a:off x="1473200" y="6121400"/>
            <a:ext cx="6045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60000"/>
              </a:lnSpc>
            </a:pP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學完每個概念，用戶必須「用自己的話講出來」，拒絕被動觀看。</a:t>
            </a:r>
            <a:endParaRPr lang="en-US" sz="1400" noProof="1"/>
          </a:p>
        </p:txBody>
      </p:sp>
      <p:sp>
        <p:nvSpPr>
          <p:cNvPr id="26" name="feynman-divider"/>
          <p:cNvSpPr/>
          <p:nvPr/>
        </p:nvSpPr>
        <p:spPr>
          <a:xfrm>
            <a:off x="7886700" y="5562600"/>
            <a:ext cx="12700" cy="990600"/>
          </a:xfrm>
          <a:prstGeom prst="rect">
            <a:avLst/>
          </a:prstGeom>
          <a:solidFill>
            <a:srgbClr val="E6E6E9"/>
          </a:solidFill>
          <a:ln>
            <a:noFill/>
          </a:ln>
        </p:spPr>
      </p:sp>
      <p:sp>
        <p:nvSpPr>
          <p:cNvPr id="27" name="feynman-r-title"/>
          <p:cNvSpPr txBox="1"/>
          <p:nvPr/>
        </p:nvSpPr>
        <p:spPr>
          <a:xfrm>
            <a:off x="8750300" y="5562600"/>
            <a:ext cx="6045200" cy="317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730" noProof="1" b="1">
                <a:solidFill>
                  <a:srgbClr val="1D1D1F"/>
                </a:solidFill>
                <a:latin typeface="MiSans"/>
                <a:ea typeface="MiSans"/>
              </a:rPr>
              <a:t>真實反饋驅動</a:t>
            </a:r>
            <a:endParaRPr lang="en-US" sz="1730" noProof="1"/>
          </a:p>
        </p:txBody>
      </p:sp>
      <p:sp>
        <p:nvSpPr>
          <p:cNvPr id="28" name="feynman-r-desc"/>
          <p:cNvSpPr txBox="1"/>
          <p:nvPr/>
        </p:nvSpPr>
        <p:spPr>
          <a:xfrm>
            <a:off x="8750300" y="5981700"/>
            <a:ext cx="60452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輸出經本人批准後由分身發布到社區，獲得真實反饋，並驅動間隔重複複習。</a:t>
            </a:r>
            <a:endParaRPr lang="en-US" sz="1400" noProof="1"/>
          </a:p>
        </p:txBody>
      </p:sp>
      <p:sp>
        <p:nvSpPr>
          <p:cNvPr id="29" name="feynman-bottom-line"/>
          <p:cNvSpPr/>
          <p:nvPr/>
        </p:nvSpPr>
        <p:spPr>
          <a:xfrm>
            <a:off x="1473200" y="7594600"/>
            <a:ext cx="13309600" cy="12700"/>
          </a:xfrm>
          <a:prstGeom prst="rect">
            <a:avLst/>
          </a:prstGeom>
          <a:solidFill>
            <a:srgbClr val="E6E6E9"/>
          </a:solidFill>
          <a:ln>
            <a:noFill/>
          </a:ln>
        </p:spPr>
      </p:sp>
      <p:sp>
        <p:nvSpPr>
          <p:cNvPr id="30" name="feynman-bottom-text"/>
          <p:cNvSpPr txBox="1"/>
          <p:nvPr/>
        </p:nvSpPr>
        <p:spPr>
          <a:xfrm>
            <a:off x="1473200" y="7810500"/>
            <a:ext cx="13309600" cy="317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730" noProof="1" b="1">
                <a:solidFill>
                  <a:srgbClr val="1D1D1F"/>
                </a:solidFill>
                <a:latin typeface="MiSans"/>
                <a:ea typeface="MiSans"/>
              </a:rPr>
              <a:t>從「看過」到「講得出來」——</a:t>
            </a:r>
            <a:r>
              <a:rPr lang="en-US" sz="1730" noProof="1" b="1">
                <a:solidFill>
                  <a:srgbClr val="0071E3"/>
                </a:solidFill>
                <a:latin typeface="MiSans"/>
                <a:ea typeface="MiSans"/>
              </a:rPr>
              <a:t>教，是最好的學</a:t>
            </a:r>
            <a:endParaRPr lang="en-US" sz="1730" noProof="1"/>
          </a:p>
        </p:txBody>
      </p:sp>
      <p:sp>
        <p:nvSpPr>
          <p:cNvPr id="31" name="footer-left"/>
          <p:cNvSpPr txBox="1"/>
          <p:nvPr/>
        </p:nvSpPr>
        <p:spPr>
          <a:xfrm>
            <a:off x="1066800" y="8597900"/>
            <a:ext cx="508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spc="190" kern="0">
                <a:solidFill>
                  <a:srgbClr val="6E6E73"/>
                </a:solidFill>
                <a:latin typeface="MiSans"/>
                <a:ea typeface="MiSans"/>
              </a:rPr>
              <a:t>KNOWFEED PITCH DECK</a:t>
            </a:r>
            <a:endParaRPr lang="en-US" sz="1200" noProof="1"/>
          </a:p>
        </p:txBody>
      </p:sp>
      <p:sp>
        <p:nvSpPr>
          <p:cNvPr id="32" name="footer-right"/>
          <p:cNvSpPr txBox="1"/>
          <p:nvPr/>
        </p:nvSpPr>
        <p:spPr>
          <a:xfrm>
            <a:off x="13919200" y="8597900"/>
            <a:ext cx="127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200" noProof="1" b="1" spc="190" kern="0">
                <a:solidFill>
                  <a:srgbClr val="1D1D1F"/>
                </a:solidFill>
                <a:latin typeface="MiSans"/>
                <a:ea typeface="MiSans"/>
              </a:rPr>
              <a:t>06 / 12</a:t>
            </a:r>
            <a:endParaRPr lang="en-US" sz="12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tick"/>
          <p:cNvSpPr/>
          <p:nvPr/>
        </p:nvSpPr>
        <p:spPr>
          <a:xfrm>
            <a:off x="1066800" y="711200"/>
            <a:ext cx="355600" cy="381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</p:sp>
      <p:sp>
        <p:nvSpPr>
          <p:cNvPr id="3" name="header-title"/>
          <p:cNvSpPr txBox="1"/>
          <p:nvPr/>
        </p:nvSpPr>
        <p:spPr>
          <a:xfrm>
            <a:off x="1066800" y="9017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470" noProof="1" b="1" spc="-50" kern="0">
                <a:solidFill>
                  <a:srgbClr val="1D1D1F"/>
                </a:solidFill>
                <a:latin typeface="MiSans"/>
                <a:ea typeface="MiSans"/>
              </a:rPr>
              <a:t>創新及創意：學習分身社區 </a:t>
            </a:r>
            <a:r>
              <a:rPr lang="en-US" sz="2000" noProof="1" b="1" spc="-50" kern="0">
                <a:solidFill>
                  <a:srgbClr val="6E6E73"/>
                </a:solidFill>
                <a:latin typeface="MiSans"/>
                <a:ea typeface="MiSans"/>
              </a:rPr>
              <a:t>Shadow Community</a:t>
            </a:r>
            <a:endParaRPr lang="en-US" sz="3470" noProof="1"/>
          </a:p>
        </p:txBody>
      </p:sp>
      <p:sp>
        <p:nvSpPr>
          <p:cNvPr id="4" name="header-tag"/>
          <p:cNvSpPr txBox="1"/>
          <p:nvPr/>
        </p:nvSpPr>
        <p:spPr>
          <a:xfrm>
            <a:off x="11379200" y="11049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spc="280" kern="0">
                <a:solidFill>
                  <a:srgbClr val="6E6E73"/>
                </a:solidFill>
                <a:latin typeface="MiSans"/>
                <a:ea typeface="MiSans"/>
              </a:rPr>
              <a:t>06 / INNOVATION</a:t>
            </a:r>
            <a:endParaRPr lang="en-US" sz="1400" noProof="1"/>
          </a:p>
        </p:txBody>
      </p:sp>
      <p:sp>
        <p:nvSpPr>
          <p:cNvPr id="5" name="header-line"/>
          <p:cNvSpPr/>
          <p:nvPr/>
        </p:nvSpPr>
        <p:spPr>
          <a:xfrm>
            <a:off x="1066800" y="1651000"/>
            <a:ext cx="14122400" cy="12700"/>
          </a:xfrm>
          <a:prstGeom prst="rect">
            <a:avLst/>
          </a:prstGeom>
          <a:solidFill>
            <a:srgbClr val="E6E6E9"/>
          </a:solidFill>
          <a:ln>
            <a:noFill/>
          </a:ln>
        </p:spPr>
      </p:sp>
      <p:sp>
        <p:nvSpPr>
          <p:cNvPr id="6" name="quote-bar"/>
          <p:cNvSpPr/>
          <p:nvPr/>
        </p:nvSpPr>
        <p:spPr>
          <a:xfrm>
            <a:off x="1066800" y="1930400"/>
            <a:ext cx="38100" cy="838200"/>
          </a:xfrm>
          <a:prstGeom prst="rect">
            <a:avLst/>
          </a:prstGeom>
          <a:solidFill>
            <a:srgbClr val="0071E3"/>
          </a:solidFill>
          <a:ln>
            <a:noFill/>
          </a:ln>
        </p:spPr>
      </p:sp>
      <p:sp>
        <p:nvSpPr>
          <p:cNvPr id="7" name="quote-main"/>
          <p:cNvSpPr txBox="1"/>
          <p:nvPr/>
        </p:nvSpPr>
        <p:spPr>
          <a:xfrm>
            <a:off x="1409700" y="1955800"/>
            <a:ext cx="137795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130" noProof="1" b="1">
                <a:solidFill>
                  <a:srgbClr val="1D1D1F"/>
                </a:solidFill>
                <a:latin typeface="MiSans"/>
                <a:ea typeface="MiSans"/>
              </a:rPr>
              <a:t>率先提出「分身即學習者」的社區模型</a:t>
            </a:r>
            <a:endParaRPr lang="en-US" sz="2130" noProof="1"/>
          </a:p>
        </p:txBody>
      </p:sp>
      <p:sp>
        <p:nvSpPr>
          <p:cNvPr id="8" name="quote-sub"/>
          <p:cNvSpPr txBox="1"/>
          <p:nvPr/>
        </p:nvSpPr>
        <p:spPr>
          <a:xfrm>
            <a:off x="1409700" y="2463800"/>
            <a:ext cx="137795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60000"/>
              </a:lnSpc>
            </a:pPr>
            <a:r>
              <a:rPr lang="en-US" sz="1470" noProof="1">
                <a:solidFill>
                  <a:srgbClr val="6E6E73"/>
                </a:solidFill>
                <a:latin typeface="MiSans"/>
                <a:ea typeface="MiSans"/>
              </a:rPr>
              <a:t>每位用戶擁有一個 AI 分身——錨定真實學習狀態（掌握度、答題記錄、費曼輸出原話），替用戶在社區發言、爭論、被記住。</a:t>
            </a:r>
            <a:endParaRPr lang="en-US" sz="1470" noProof="1"/>
          </a:p>
        </p:txBody>
      </p:sp>
      <p:sp>
        <p:nvSpPr>
          <p:cNvPr id="9" name="vs-card"/>
          <p:cNvSpPr/>
          <p:nvPr/>
        </p:nvSpPr>
        <p:spPr>
          <a:xfrm>
            <a:off x="1066800" y="3048000"/>
            <a:ext cx="14122400" cy="1511300"/>
          </a:xfrm>
          <a:prstGeom prst="roundRect">
            <a:avLst>
              <a:gd name="adj" fmla="val 151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10" name="vs-l-title"/>
          <p:cNvSpPr txBox="1"/>
          <p:nvPr/>
        </p:nvSpPr>
        <p:spPr>
          <a:xfrm>
            <a:off x="1422400" y="33020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6E6E73"/>
                </a:solidFill>
                <a:latin typeface="MiSans"/>
                <a:ea typeface="MiSans"/>
              </a:rPr>
              <a:t>傳統 AI 社區的困境</a:t>
            </a:r>
            <a:endParaRPr lang="en-US" sz="1600" noProof="1"/>
          </a:p>
        </p:txBody>
      </p:sp>
      <p:sp>
        <p:nvSpPr>
          <p:cNvPr id="11" name="vs-l-desc"/>
          <p:cNvSpPr txBox="1"/>
          <p:nvPr/>
        </p:nvSpPr>
        <p:spPr>
          <a:xfrm>
            <a:off x="1422400" y="3733800"/>
            <a:ext cx="50292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靠 NPC 機器人撐場，內容空洞、缺乏真實連結，用戶始終只是旁觀者，無法產生歸屬感。</a:t>
            </a:r>
            <a:endParaRPr lang="en-US" sz="1400" noProof="1"/>
          </a:p>
        </p:txBody>
      </p:sp>
      <p:sp>
        <p:nvSpPr>
          <p:cNvPr id="12" name="vs-divider"/>
          <p:cNvSpPr/>
          <p:nvPr/>
        </p:nvSpPr>
        <p:spPr>
          <a:xfrm>
            <a:off x="6858000" y="3302000"/>
            <a:ext cx="12700" cy="1003300"/>
          </a:xfrm>
          <a:prstGeom prst="rect">
            <a:avLst/>
          </a:prstGeom>
          <a:solidFill>
            <a:srgbClr val="E6E6E9"/>
          </a:solidFill>
          <a:ln>
            <a:noFill/>
          </a:ln>
        </p:spPr>
      </p:sp>
      <p:sp>
        <p:nvSpPr>
          <p:cNvPr id="13" name="vs-r-title"/>
          <p:cNvSpPr txBox="1"/>
          <p:nvPr/>
        </p:nvSpPr>
        <p:spPr>
          <a:xfrm>
            <a:off x="7277100" y="3302000"/>
            <a:ext cx="75565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1D1D1F"/>
                </a:solidFill>
                <a:latin typeface="MiSans"/>
                <a:ea typeface="MiSans"/>
              </a:rPr>
              <a:t>KnowFeed 的解法</a:t>
            </a:r>
            <a:endParaRPr lang="en-US" sz="1600" noProof="1"/>
          </a:p>
        </p:txBody>
      </p:sp>
      <p:sp>
        <p:nvSpPr>
          <p:cNvPr id="14" name="vs-r-desc"/>
          <p:cNvSpPr txBox="1"/>
          <p:nvPr/>
        </p:nvSpPr>
        <p:spPr>
          <a:xfrm>
            <a:off x="7277100" y="3733800"/>
            <a:ext cx="75565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1D1D1F"/>
                </a:solidFill>
                <a:latin typeface="MiSans"/>
                <a:ea typeface="MiSans"/>
              </a:rPr>
              <a:t>分身讓用戶成為社區的</a:t>
            </a:r>
            <a:r>
              <a:rPr lang="en-US" sz="1400" noProof="1" b="1">
                <a:solidFill>
                  <a:srgbClr val="1D1D1F"/>
                </a:solidFill>
                <a:latin typeface="MiSans"/>
                <a:ea typeface="MiSans"/>
              </a:rPr>
              <a:t>真正主角</a:t>
            </a:r>
            <a:r>
              <a:rPr lang="en-US" sz="1400" noProof="1">
                <a:solidFill>
                  <a:srgbClr val="1D1D1F"/>
                </a:solidFill>
                <a:latin typeface="MiSans"/>
                <a:ea typeface="MiSans"/>
              </a:rPr>
              <a:t>——發言的 karma 歸屬本人，每條發言可溯源、可編輯、可撤回；AI 角色只作催化層（佔比 &lt; 20%），負責暖場。</a:t>
            </a:r>
            <a:endParaRPr lang="en-US" sz="1400" noProof="1"/>
          </a:p>
        </p:txBody>
      </p:sp>
      <p:sp>
        <p:nvSpPr>
          <p:cNvPr id="15" name="mid-slogan"/>
          <p:cNvSpPr txBox="1"/>
          <p:nvPr/>
        </p:nvSpPr>
        <p:spPr>
          <a:xfrm>
            <a:off x="1066800" y="4838700"/>
            <a:ext cx="14122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1D1D1F"/>
                </a:solidFill>
                <a:latin typeface="MiSans"/>
                <a:ea typeface="MiSans"/>
              </a:rPr>
              <a:t>「死互聯網」的反面——</a:t>
            </a:r>
            <a:r>
              <a:rPr lang="en-US" sz="1800" noProof="1" b="1">
                <a:solidFill>
                  <a:srgbClr val="0071E3"/>
                </a:solidFill>
                <a:latin typeface="MiSans"/>
                <a:ea typeface="MiSans"/>
              </a:rPr>
              <a:t>AI 是助手，不是替身</a:t>
            </a:r>
            <a:endParaRPr lang="en-US" sz="1800" noProof="1"/>
          </a:p>
        </p:txBody>
      </p:sp>
      <p:sp>
        <p:nvSpPr>
          <p:cNvPr id="16" name="base-card"/>
          <p:cNvSpPr/>
          <p:nvPr/>
        </p:nvSpPr>
        <p:spPr>
          <a:xfrm>
            <a:off x="1066800" y="5473700"/>
            <a:ext cx="14122400" cy="1739900"/>
          </a:xfrm>
          <a:prstGeom prst="roundRect">
            <a:avLst>
              <a:gd name="adj" fmla="val 131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17" name="base-l-title"/>
          <p:cNvSpPr txBox="1"/>
          <p:nvPr/>
        </p:nvSpPr>
        <p:spPr>
          <a:xfrm>
            <a:off x="1422400" y="5702300"/>
            <a:ext cx="68707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1D1D1F"/>
                </a:solidFill>
                <a:latin typeface="MiSans"/>
                <a:ea typeface="MiSans"/>
              </a:rPr>
              <a:t>三級自主權限</a:t>
            </a:r>
            <a:endParaRPr lang="en-US" sz="1600" noProof="1"/>
          </a:p>
        </p:txBody>
      </p:sp>
      <p:sp>
        <p:nvSpPr>
          <p:cNvPr id="18" name="base-l1"/>
          <p:cNvSpPr txBox="1"/>
          <p:nvPr/>
        </p:nvSpPr>
        <p:spPr>
          <a:xfrm>
            <a:off x="1422400" y="6134100"/>
            <a:ext cx="2082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 b="1">
                <a:solidFill>
                  <a:srgbClr val="6E6E73"/>
                </a:solidFill>
                <a:latin typeface="MiSans"/>
                <a:ea typeface="MiSans"/>
              </a:rPr>
              <a:t>L1</a:t>
            </a: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 默認</a:t>
            </a:r>
            <a:endParaRPr lang="en-US" sz="1400" noProof="1"/>
          </a:p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分身草稿逐條批准後發布</a:t>
            </a:r>
            <a:endParaRPr lang="en-US" sz="1400" noProof="1"/>
          </a:p>
        </p:txBody>
      </p:sp>
      <p:sp>
        <p:nvSpPr>
          <p:cNvPr id="19" name="base-l2"/>
          <p:cNvSpPr txBox="1"/>
          <p:nvPr/>
        </p:nvSpPr>
        <p:spPr>
          <a:xfrm>
            <a:off x="3810000" y="6134100"/>
            <a:ext cx="2082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 b="1">
                <a:solidFill>
                  <a:srgbClr val="6E6E73"/>
                </a:solidFill>
                <a:latin typeface="MiSans"/>
                <a:ea typeface="MiSans"/>
              </a:rPr>
              <a:t>L2</a:t>
            </a:r>
            <a:endParaRPr lang="en-US" sz="1400" noProof="1"/>
          </a:p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限定範圍自動發言，事後可撤回</a:t>
            </a:r>
            <a:endParaRPr lang="en-US" sz="1400" noProof="1"/>
          </a:p>
        </p:txBody>
      </p:sp>
      <p:sp>
        <p:nvSpPr>
          <p:cNvPr id="20" name="base-l3"/>
          <p:cNvSpPr txBox="1"/>
          <p:nvPr/>
        </p:nvSpPr>
        <p:spPr>
          <a:xfrm>
            <a:off x="6197600" y="6134100"/>
            <a:ext cx="2082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 b="1">
                <a:solidFill>
                  <a:srgbClr val="6E6E73"/>
                </a:solidFill>
                <a:latin typeface="MiSans"/>
                <a:ea typeface="MiSans"/>
              </a:rPr>
              <a:t>L3</a:t>
            </a:r>
            <a:endParaRPr lang="en-US" sz="1400" noProof="1"/>
          </a:p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完全託管，隨時收回權限</a:t>
            </a:r>
            <a:endParaRPr lang="en-US" sz="1400" noProof="1"/>
          </a:p>
        </p:txBody>
      </p:sp>
      <p:sp>
        <p:nvSpPr>
          <p:cNvPr id="21" name="base-divider"/>
          <p:cNvSpPr/>
          <p:nvPr/>
        </p:nvSpPr>
        <p:spPr>
          <a:xfrm>
            <a:off x="8699500" y="5702300"/>
            <a:ext cx="12700" cy="1282700"/>
          </a:xfrm>
          <a:prstGeom prst="rect">
            <a:avLst/>
          </a:prstGeom>
          <a:solidFill>
            <a:srgbClr val="E6E6E9"/>
          </a:solidFill>
          <a:ln>
            <a:noFill/>
          </a:ln>
        </p:spPr>
      </p:sp>
      <p:sp>
        <p:nvSpPr>
          <p:cNvPr id="22" name="base-r-title"/>
          <p:cNvSpPr txBox="1"/>
          <p:nvPr/>
        </p:nvSpPr>
        <p:spPr>
          <a:xfrm>
            <a:off x="9118600" y="5702300"/>
            <a:ext cx="5715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1D1D1F"/>
                </a:solidFill>
                <a:latin typeface="MiSans"/>
                <a:ea typeface="MiSans"/>
              </a:rPr>
              <a:t>倫理設計即競爭力</a:t>
            </a:r>
            <a:endParaRPr lang="en-US" sz="1600" noProof="1"/>
          </a:p>
        </p:txBody>
      </p:sp>
      <p:sp>
        <p:nvSpPr>
          <p:cNvPr id="23" name="base-r-desc"/>
          <p:cNvSpPr txBox="1"/>
          <p:nvPr/>
        </p:nvSpPr>
        <p:spPr>
          <a:xfrm>
            <a:off x="9118600" y="6134100"/>
            <a:ext cx="57150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對齊歐盟 AI Act——AI 生成標識不可關閉、無 downvote、無暗黑模式。合規從第一天起就是產品設計，而非事後補丁。</a:t>
            </a:r>
            <a:endParaRPr lang="en-US" sz="1400" noProof="1"/>
          </a:p>
        </p:txBody>
      </p:sp>
      <p:sp>
        <p:nvSpPr>
          <p:cNvPr id="24" name="footer-left"/>
          <p:cNvSpPr txBox="1"/>
          <p:nvPr/>
        </p:nvSpPr>
        <p:spPr>
          <a:xfrm>
            <a:off x="1066800" y="8597900"/>
            <a:ext cx="508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spc="190" kern="0">
                <a:solidFill>
                  <a:srgbClr val="6E6E73"/>
                </a:solidFill>
                <a:latin typeface="MiSans"/>
                <a:ea typeface="MiSans"/>
              </a:rPr>
              <a:t>KNOWFEED PITCH DECK</a:t>
            </a:r>
            <a:endParaRPr lang="en-US" sz="1200" noProof="1"/>
          </a:p>
        </p:txBody>
      </p:sp>
      <p:sp>
        <p:nvSpPr>
          <p:cNvPr id="25" name="footer-right"/>
          <p:cNvSpPr txBox="1"/>
          <p:nvPr/>
        </p:nvSpPr>
        <p:spPr>
          <a:xfrm>
            <a:off x="13919200" y="8597900"/>
            <a:ext cx="127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200" noProof="1" b="1" spc="190" kern="0">
                <a:solidFill>
                  <a:srgbClr val="1D1D1F"/>
                </a:solidFill>
                <a:latin typeface="MiSans"/>
                <a:ea typeface="MiSans"/>
              </a:rPr>
              <a:t>07 / 12</a:t>
            </a:r>
            <a:endParaRPr lang="en-US" sz="12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tick"/>
          <p:cNvSpPr/>
          <p:nvPr/>
        </p:nvSpPr>
        <p:spPr>
          <a:xfrm>
            <a:off x="1066800" y="711200"/>
            <a:ext cx="355600" cy="381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</p:sp>
      <p:sp>
        <p:nvSpPr>
          <p:cNvPr id="3" name="header-title"/>
          <p:cNvSpPr txBox="1"/>
          <p:nvPr/>
        </p:nvSpPr>
        <p:spPr>
          <a:xfrm>
            <a:off x="1066800" y="901700"/>
            <a:ext cx="1143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 spc="-60" kern="0">
                <a:solidFill>
                  <a:srgbClr val="1D1D1F"/>
                </a:solidFill>
                <a:latin typeface="MiSans"/>
                <a:ea typeface="MiSans"/>
              </a:rPr>
              <a:t>裨益及影響</a:t>
            </a:r>
            <a:endParaRPr lang="en-US" sz="4000" noProof="1"/>
          </a:p>
        </p:txBody>
      </p:sp>
      <p:sp>
        <p:nvSpPr>
          <p:cNvPr id="4" name="header-tag"/>
          <p:cNvSpPr txBox="1"/>
          <p:nvPr/>
        </p:nvSpPr>
        <p:spPr>
          <a:xfrm>
            <a:off x="11379200" y="11811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spc="280" kern="0">
                <a:solidFill>
                  <a:srgbClr val="6E6E73"/>
                </a:solidFill>
                <a:latin typeface="MiSans"/>
                <a:ea typeface="MiSans"/>
              </a:rPr>
              <a:t>07 / IMPACT</a:t>
            </a:r>
            <a:endParaRPr lang="en-US" sz="1400" noProof="1"/>
          </a:p>
        </p:txBody>
      </p:sp>
      <p:sp>
        <p:nvSpPr>
          <p:cNvPr id="5" name="header-line"/>
          <p:cNvSpPr/>
          <p:nvPr/>
        </p:nvSpPr>
        <p:spPr>
          <a:xfrm>
            <a:off x="1066800" y="1727200"/>
            <a:ext cx="14122400" cy="12700"/>
          </a:xfrm>
          <a:prstGeom prst="rect">
            <a:avLst/>
          </a:prstGeom>
          <a:solidFill>
            <a:srgbClr val="E6E6E9"/>
          </a:solidFill>
          <a:ln>
            <a:noFill/>
          </a:ln>
        </p:spPr>
      </p:sp>
      <p:sp>
        <p:nvSpPr>
          <p:cNvPr id="6" name="imp-card1"/>
          <p:cNvSpPr/>
          <p:nvPr/>
        </p:nvSpPr>
        <p:spPr>
          <a:xfrm>
            <a:off x="1066800" y="2006600"/>
            <a:ext cx="4559300" cy="1689100"/>
          </a:xfrm>
          <a:prstGeom prst="roundRect">
            <a:avLst>
              <a:gd name="adj" fmla="val 135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7" name="imp1-title"/>
          <p:cNvSpPr txBox="1"/>
          <p:nvPr/>
        </p:nvSpPr>
        <p:spPr>
          <a:xfrm>
            <a:off x="1346200" y="2235200"/>
            <a:ext cx="40005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70" noProof="1" b="1">
                <a:solidFill>
                  <a:srgbClr val="1D1D1F"/>
                </a:solidFill>
                <a:latin typeface="MiSans"/>
                <a:ea typeface="MiSans"/>
              </a:rPr>
              <a:t>助力「搶人才、留人才」</a:t>
            </a:r>
            <a:endParaRPr lang="en-US" sz="1670" noProof="1"/>
          </a:p>
        </p:txBody>
      </p:sp>
      <p:sp>
        <p:nvSpPr>
          <p:cNvPr id="8" name="imp1-desc"/>
          <p:cNvSpPr txBox="1"/>
          <p:nvPr/>
        </p:nvSpPr>
        <p:spPr>
          <a:xfrm>
            <a:off x="1346200" y="2616200"/>
            <a:ext cx="40005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為「高才通」等新來港人才即時生成香港法規、金融監管與職場文化的專屬路徑，快速跨越專業與文化壁壘。</a:t>
            </a:r>
            <a:endParaRPr lang="en-US" sz="1400" noProof="1"/>
          </a:p>
        </p:txBody>
      </p:sp>
      <p:sp>
        <p:nvSpPr>
          <p:cNvPr id="9" name="imp-card2"/>
          <p:cNvSpPr/>
          <p:nvPr/>
        </p:nvSpPr>
        <p:spPr>
          <a:xfrm>
            <a:off x="5854700" y="2006600"/>
            <a:ext cx="4559300" cy="1689100"/>
          </a:xfrm>
          <a:prstGeom prst="roundRect">
            <a:avLst>
              <a:gd name="adj" fmla="val 135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10" name="imp2-title"/>
          <p:cNvSpPr txBox="1"/>
          <p:nvPr/>
        </p:nvSpPr>
        <p:spPr>
          <a:xfrm>
            <a:off x="6134100" y="2235200"/>
            <a:ext cx="40005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70" noProof="1" b="1">
                <a:solidFill>
                  <a:srgbClr val="1D1D1F"/>
                </a:solidFill>
                <a:latin typeface="MiSans"/>
                <a:ea typeface="MiSans"/>
              </a:rPr>
              <a:t>賦能本地青年與大專生</a:t>
            </a:r>
            <a:endParaRPr lang="en-US" sz="1670" noProof="1"/>
          </a:p>
        </p:txBody>
      </p:sp>
      <p:sp>
        <p:nvSpPr>
          <p:cNvPr id="11" name="imp2-desc"/>
          <p:cNvSpPr txBox="1"/>
          <p:nvPr/>
        </p:nvSpPr>
        <p:spPr>
          <a:xfrm>
            <a:off x="6134100" y="2616200"/>
            <a:ext cx="40005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用通勤碎片時間緊跟 Web3、AI、ESG 前沿動態，縮窄課堂與行業的落差，保持香港青年的國際競爭力。</a:t>
            </a:r>
            <a:endParaRPr lang="en-US" sz="1400" noProof="1"/>
          </a:p>
        </p:txBody>
      </p:sp>
      <p:sp>
        <p:nvSpPr>
          <p:cNvPr id="12" name="imp-card3"/>
          <p:cNvSpPr/>
          <p:nvPr/>
        </p:nvSpPr>
        <p:spPr>
          <a:xfrm>
            <a:off x="10629900" y="2006600"/>
            <a:ext cx="4559300" cy="1689100"/>
          </a:xfrm>
          <a:prstGeom prst="roundRect">
            <a:avLst>
              <a:gd name="adj" fmla="val 135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13" name="imp3-title"/>
          <p:cNvSpPr txBox="1"/>
          <p:nvPr/>
        </p:nvSpPr>
        <p:spPr>
          <a:xfrm>
            <a:off x="10909300" y="2235200"/>
            <a:ext cx="40005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70" noProof="1" b="1">
                <a:solidFill>
                  <a:srgbClr val="1D1D1F"/>
                </a:solidFill>
                <a:latin typeface="MiSans"/>
                <a:ea typeface="MiSans"/>
              </a:rPr>
              <a:t>推動全民持續進修</a:t>
            </a:r>
            <a:endParaRPr lang="en-US" sz="1670" noProof="1"/>
          </a:p>
        </p:txBody>
      </p:sp>
      <p:sp>
        <p:nvSpPr>
          <p:cNvPr id="14" name="imp3-desc"/>
          <p:cNvSpPr txBox="1"/>
          <p:nvPr/>
        </p:nvSpPr>
        <p:spPr>
          <a:xfrm>
            <a:off x="10909300" y="2616200"/>
            <a:ext cx="40005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配合持續進修基金（CEF），基層與轉型人士每天 5–10 分鐘滑動學習，即可掌握數字經濟時代的新技能。</a:t>
            </a:r>
            <a:endParaRPr lang="en-US" sz="1400" noProof="1"/>
          </a:p>
        </p:txBody>
      </p:sp>
      <p:sp>
        <p:nvSpPr>
          <p:cNvPr id="15" name="imp-card4"/>
          <p:cNvSpPr/>
          <p:nvPr/>
        </p:nvSpPr>
        <p:spPr>
          <a:xfrm>
            <a:off x="1066800" y="3924300"/>
            <a:ext cx="6934200" cy="1409700"/>
          </a:xfrm>
          <a:prstGeom prst="roundRect">
            <a:avLst>
              <a:gd name="adj" fmla="val 162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16" name="imp4-title"/>
          <p:cNvSpPr txBox="1"/>
          <p:nvPr/>
        </p:nvSpPr>
        <p:spPr>
          <a:xfrm>
            <a:off x="1346200" y="4152900"/>
            <a:ext cx="6375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70" noProof="1" b="1">
                <a:solidFill>
                  <a:srgbClr val="1D1D1F"/>
                </a:solidFill>
                <a:latin typeface="MiSans"/>
                <a:ea typeface="MiSans"/>
              </a:rPr>
              <a:t>推動教育平權與數碼共融</a:t>
            </a:r>
            <a:endParaRPr lang="en-US" sz="1670" noProof="1"/>
          </a:p>
        </p:txBody>
      </p:sp>
      <p:sp>
        <p:nvSpPr>
          <p:cNvPr id="17" name="imp4-desc"/>
          <p:cNvSpPr txBox="1"/>
          <p:nvPr/>
        </p:nvSpPr>
        <p:spPr>
          <a:xfrm>
            <a:off x="1346200" y="4533900"/>
            <a:ext cx="63754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「任意主題生成」讓基層社群以極低成本獲得同等高質量的專屬路徑——技術抹平知識獲取的成本鴻溝，讓每個人都擁有專屬的私人導師。</a:t>
            </a:r>
            <a:endParaRPr lang="en-US" sz="1400" noProof="1"/>
          </a:p>
        </p:txBody>
      </p:sp>
      <p:sp>
        <p:nvSpPr>
          <p:cNvPr id="18" name="imp-card5"/>
          <p:cNvSpPr/>
          <p:nvPr/>
        </p:nvSpPr>
        <p:spPr>
          <a:xfrm>
            <a:off x="8255000" y="3924300"/>
            <a:ext cx="6934200" cy="1409700"/>
          </a:xfrm>
          <a:prstGeom prst="roundRect">
            <a:avLst>
              <a:gd name="adj" fmla="val 162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19" name="imp5-title"/>
          <p:cNvSpPr txBox="1"/>
          <p:nvPr/>
        </p:nvSpPr>
        <p:spPr>
          <a:xfrm>
            <a:off x="8534400" y="4152900"/>
            <a:ext cx="6375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70" noProof="1" b="1">
                <a:solidFill>
                  <a:srgbClr val="1D1D1F"/>
                </a:solidFill>
                <a:latin typeface="MiSans"/>
                <a:ea typeface="MiSans"/>
              </a:rPr>
              <a:t>培養批判性思維，打破資訊繭房</a:t>
            </a:r>
            <a:endParaRPr lang="en-US" sz="1670" noProof="1"/>
          </a:p>
        </p:txBody>
      </p:sp>
      <p:sp>
        <p:nvSpPr>
          <p:cNvPr id="20" name="imp5-desc"/>
          <p:cNvSpPr txBox="1"/>
          <p:nvPr/>
        </p:nvSpPr>
        <p:spPr>
          <a:xfrm>
            <a:off x="8534400" y="4533900"/>
            <a:ext cx="63754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學習環節刻意引入多視角社區辯論，是對香港「包容、開放、多元」精神的技術實踐，從根本提升社會整體的批判性思維能力。</a:t>
            </a:r>
            <a:endParaRPr lang="en-US" sz="1400" noProof="1"/>
          </a:p>
        </p:txBody>
      </p:sp>
      <p:sp>
        <p:nvSpPr>
          <p:cNvPr id="21" name="quote-bar"/>
          <p:cNvSpPr/>
          <p:nvPr/>
        </p:nvSpPr>
        <p:spPr>
          <a:xfrm>
            <a:off x="1066800" y="5638800"/>
            <a:ext cx="38100" cy="762000"/>
          </a:xfrm>
          <a:prstGeom prst="rect">
            <a:avLst/>
          </a:prstGeom>
          <a:solidFill>
            <a:srgbClr val="0071E3"/>
          </a:solidFill>
          <a:ln>
            <a:noFill/>
          </a:ln>
        </p:spPr>
      </p:sp>
      <p:sp>
        <p:nvSpPr>
          <p:cNvPr id="22" name="quote-text"/>
          <p:cNvSpPr txBox="1"/>
          <p:nvPr/>
        </p:nvSpPr>
        <p:spPr>
          <a:xfrm>
            <a:off x="1409700" y="56642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930" noProof="1" b="1">
                <a:solidFill>
                  <a:srgbClr val="1D1D1F"/>
                </a:solidFill>
                <a:latin typeface="MiSans"/>
                <a:ea typeface="MiSans"/>
              </a:rPr>
              <a:t>「教育科技的最高境界，不是讓課程更便宜，而是讓『想學』這個念頭本身，變得</a:t>
            </a:r>
            <a:r>
              <a:rPr lang="en-US" sz="1930" noProof="1" b="1">
                <a:solidFill>
                  <a:srgbClr val="0071E3"/>
                </a:solidFill>
                <a:latin typeface="MiSans"/>
                <a:ea typeface="MiSans"/>
              </a:rPr>
              <a:t>更容易執行</a:t>
            </a:r>
            <a:r>
              <a:rPr lang="en-US" sz="1930" noProof="1" b="1">
                <a:solidFill>
                  <a:srgbClr val="1D1D1F"/>
                </a:solidFill>
                <a:latin typeface="MiSans"/>
                <a:ea typeface="MiSans"/>
              </a:rPr>
              <a:t>。」</a:t>
            </a:r>
            <a:endParaRPr lang="en-US" sz="1930" noProof="1"/>
          </a:p>
        </p:txBody>
      </p:sp>
      <p:sp>
        <p:nvSpPr>
          <p:cNvPr id="23" name="quote-attr"/>
          <p:cNvSpPr txBox="1"/>
          <p:nvPr/>
        </p:nvSpPr>
        <p:spPr>
          <a:xfrm>
            <a:off x="1409700" y="6134100"/>
            <a:ext cx="137795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70" noProof="1" spc="200" kern="0">
                <a:solidFill>
                  <a:srgbClr val="6E6E73"/>
                </a:solidFill>
                <a:latin typeface="MiSans"/>
                <a:ea typeface="MiSans"/>
              </a:rPr>
              <a:t>KNOWFEED 團隊願景</a:t>
            </a:r>
            <a:endParaRPr lang="en-US" sz="1270" noProof="1"/>
          </a:p>
        </p:txBody>
      </p:sp>
      <p:sp>
        <p:nvSpPr>
          <p:cNvPr id="24" name="footer-left"/>
          <p:cNvSpPr txBox="1"/>
          <p:nvPr/>
        </p:nvSpPr>
        <p:spPr>
          <a:xfrm>
            <a:off x="1066800" y="8597900"/>
            <a:ext cx="508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spc="190" kern="0">
                <a:solidFill>
                  <a:srgbClr val="6E6E73"/>
                </a:solidFill>
                <a:latin typeface="MiSans"/>
                <a:ea typeface="MiSans"/>
              </a:rPr>
              <a:t>KNOWFEED PITCH DECK</a:t>
            </a:r>
            <a:endParaRPr lang="en-US" sz="1200" noProof="1"/>
          </a:p>
        </p:txBody>
      </p:sp>
      <p:sp>
        <p:nvSpPr>
          <p:cNvPr id="25" name="footer-right"/>
          <p:cNvSpPr txBox="1"/>
          <p:nvPr/>
        </p:nvSpPr>
        <p:spPr>
          <a:xfrm>
            <a:off x="13919200" y="8597900"/>
            <a:ext cx="127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200" noProof="1" b="1" spc="190" kern="0">
                <a:solidFill>
                  <a:srgbClr val="1D1D1F"/>
                </a:solidFill>
                <a:latin typeface="MiSans"/>
                <a:ea typeface="MiSans"/>
              </a:rPr>
              <a:t>08 / 12</a:t>
            </a:r>
            <a:endParaRPr lang="en-US" sz="12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tick"/>
          <p:cNvSpPr/>
          <p:nvPr/>
        </p:nvSpPr>
        <p:spPr>
          <a:xfrm>
            <a:off x="1066800" y="711200"/>
            <a:ext cx="355600" cy="381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</p:sp>
      <p:sp>
        <p:nvSpPr>
          <p:cNvPr id="3" name="header-title"/>
          <p:cNvSpPr txBox="1"/>
          <p:nvPr/>
        </p:nvSpPr>
        <p:spPr>
          <a:xfrm>
            <a:off x="1066800" y="901700"/>
            <a:ext cx="1143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 spc="-60" kern="0">
                <a:solidFill>
                  <a:srgbClr val="1D1D1F"/>
                </a:solidFill>
                <a:latin typeface="MiSans"/>
                <a:ea typeface="MiSans"/>
              </a:rPr>
              <a:t>市場潛力與藍圖</a:t>
            </a:r>
            <a:endParaRPr lang="en-US" sz="4000" noProof="1"/>
          </a:p>
        </p:txBody>
      </p:sp>
      <p:sp>
        <p:nvSpPr>
          <p:cNvPr id="4" name="header-tag"/>
          <p:cNvSpPr txBox="1"/>
          <p:nvPr/>
        </p:nvSpPr>
        <p:spPr>
          <a:xfrm>
            <a:off x="11379200" y="11811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spc="280" kern="0">
                <a:solidFill>
                  <a:srgbClr val="6E6E73"/>
                </a:solidFill>
                <a:latin typeface="MiSans"/>
                <a:ea typeface="MiSans"/>
              </a:rPr>
              <a:t>08 / MARKET</a:t>
            </a:r>
            <a:endParaRPr lang="en-US" sz="1400" noProof="1"/>
          </a:p>
        </p:txBody>
      </p:sp>
      <p:sp>
        <p:nvSpPr>
          <p:cNvPr id="5" name="header-line"/>
          <p:cNvSpPr/>
          <p:nvPr/>
        </p:nvSpPr>
        <p:spPr>
          <a:xfrm>
            <a:off x="1066800" y="1727200"/>
            <a:ext cx="14122400" cy="12700"/>
          </a:xfrm>
          <a:prstGeom prst="rect">
            <a:avLst/>
          </a:prstGeom>
          <a:solidFill>
            <a:srgbClr val="E6E6E9"/>
          </a:solidFill>
          <a:ln>
            <a:noFill/>
          </a:ln>
        </p:spPr>
      </p:sp>
      <p:sp>
        <p:nvSpPr>
          <p:cNvPr id="6" name="mkt1-num"/>
          <p:cNvSpPr txBox="1"/>
          <p:nvPr/>
        </p:nvSpPr>
        <p:spPr>
          <a:xfrm>
            <a:off x="1066800" y="1955800"/>
            <a:ext cx="43053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270" noProof="1" b="1" spc="-130" kern="0">
                <a:solidFill>
                  <a:srgbClr val="1D1D1F"/>
                </a:solidFill>
                <a:latin typeface="MiSans"/>
                <a:ea typeface="MiSans"/>
              </a:rPr>
              <a:t>$5.32</a:t>
            </a:r>
            <a:r>
              <a:rPr lang="en-US" sz="2130" noProof="1" b="1" spc="-130" kern="0">
                <a:solidFill>
                  <a:srgbClr val="6E6E73"/>
                </a:solidFill>
                <a:latin typeface="MiSans"/>
                <a:ea typeface="MiSans"/>
              </a:rPr>
              <a:t>B</a:t>
            </a:r>
            <a:endParaRPr lang="en-US" sz="1600" noProof="1"/>
          </a:p>
        </p:txBody>
      </p:sp>
      <p:sp>
        <p:nvSpPr>
          <p:cNvPr id="7" name="mkt1-label"/>
          <p:cNvSpPr txBox="1"/>
          <p:nvPr/>
        </p:nvSpPr>
        <p:spPr>
          <a:xfrm>
            <a:off x="1066800" y="2628900"/>
            <a:ext cx="4305300" cy="546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70" noProof="1" b="1">
                <a:solidFill>
                  <a:srgbClr val="1D1D1F"/>
                </a:solidFill>
                <a:latin typeface="MiSans"/>
                <a:ea typeface="MiSans"/>
              </a:rPr>
              <a:t>2024 全球教育 AI 市場規模</a:t>
            </a:r>
            <a:endParaRPr lang="en-US" sz="1470" noProof="1"/>
          </a:p>
          <a:p>
            <a:pPr algn="l">
              <a:lnSpc>
                <a:spcPct val="145000"/>
              </a:lnSpc>
            </a:pPr>
            <a:r>
              <a:rPr lang="en-US" sz="1200" noProof="1" b="1">
                <a:solidFill>
                  <a:srgbClr val="6E6E73"/>
                </a:solidFill>
                <a:latin typeface="MiSans"/>
                <a:ea typeface="MiSans"/>
              </a:rPr>
              <a:t>個性化學習需求爆發驅動</a:t>
            </a:r>
            <a:endParaRPr lang="en-US" sz="1470" noProof="1"/>
          </a:p>
        </p:txBody>
      </p:sp>
      <p:sp>
        <p:nvSpPr>
          <p:cNvPr id="8" name="mkt2-num"/>
          <p:cNvSpPr txBox="1"/>
          <p:nvPr/>
        </p:nvSpPr>
        <p:spPr>
          <a:xfrm>
            <a:off x="5981700" y="1955800"/>
            <a:ext cx="43053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270" noProof="1" b="1" spc="-130" kern="0">
                <a:solidFill>
                  <a:srgbClr val="1D1D1F"/>
                </a:solidFill>
                <a:latin typeface="MiSans"/>
                <a:ea typeface="MiSans"/>
              </a:rPr>
              <a:t>&gt;30</a:t>
            </a:r>
            <a:r>
              <a:rPr lang="en-US" sz="2130" noProof="1" b="1" spc="-130" kern="0">
                <a:solidFill>
                  <a:srgbClr val="6E6E73"/>
                </a:solidFill>
                <a:latin typeface="MiSans"/>
                <a:ea typeface="MiSans"/>
              </a:rPr>
              <a:t>%</a:t>
            </a:r>
            <a:endParaRPr lang="en-US" sz="1600" noProof="1"/>
          </a:p>
        </p:txBody>
      </p:sp>
      <p:sp>
        <p:nvSpPr>
          <p:cNvPr id="9" name="mkt2-label"/>
          <p:cNvSpPr txBox="1"/>
          <p:nvPr/>
        </p:nvSpPr>
        <p:spPr>
          <a:xfrm>
            <a:off x="5981700" y="2628900"/>
            <a:ext cx="4305300" cy="546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70" noProof="1" b="1">
                <a:solidFill>
                  <a:srgbClr val="1D1D1F"/>
                </a:solidFill>
                <a:latin typeface="MiSans"/>
                <a:ea typeface="MiSans"/>
              </a:rPr>
              <a:t>年複合增長率（CAGR）</a:t>
            </a:r>
            <a:endParaRPr lang="en-US" sz="1470" noProof="1"/>
          </a:p>
          <a:p>
            <a:pPr algn="l">
              <a:lnSpc>
                <a:spcPct val="145000"/>
              </a:lnSpc>
            </a:pPr>
            <a:r>
              <a:rPr lang="en-US" sz="1200" noProof="1" b="1">
                <a:solidFill>
                  <a:srgbClr val="6E6E73"/>
                </a:solidFill>
                <a:latin typeface="MiSans"/>
                <a:ea typeface="MiSans"/>
              </a:rPr>
              <a:t>教育 AI 賽道高速擴張</a:t>
            </a:r>
            <a:endParaRPr lang="en-US" sz="1470" noProof="1"/>
          </a:p>
        </p:txBody>
      </p:sp>
      <p:sp>
        <p:nvSpPr>
          <p:cNvPr id="10" name="mkt3-num"/>
          <p:cNvSpPr txBox="1"/>
          <p:nvPr/>
        </p:nvSpPr>
        <p:spPr>
          <a:xfrm>
            <a:off x="10883900" y="1955800"/>
            <a:ext cx="43053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270" noProof="1" b="1" spc="-130" kern="0">
                <a:solidFill>
                  <a:srgbClr val="1D1D1F"/>
                </a:solidFill>
                <a:latin typeface="MiSans"/>
                <a:ea typeface="MiSans"/>
              </a:rPr>
              <a:t>$200</a:t>
            </a:r>
            <a:r>
              <a:rPr lang="en-US" sz="2130" noProof="1" b="1" spc="-130" kern="0">
                <a:solidFill>
                  <a:srgbClr val="6E6E73"/>
                </a:solidFill>
                <a:latin typeface="MiSans"/>
                <a:ea typeface="MiSans"/>
              </a:rPr>
              <a:t>B+</a:t>
            </a:r>
            <a:endParaRPr lang="en-US" sz="1600" noProof="1"/>
          </a:p>
        </p:txBody>
      </p:sp>
      <p:sp>
        <p:nvSpPr>
          <p:cNvPr id="11" name="mkt3-label"/>
          <p:cNvSpPr txBox="1"/>
          <p:nvPr/>
        </p:nvSpPr>
        <p:spPr>
          <a:xfrm>
            <a:off x="10883900" y="2628900"/>
            <a:ext cx="4305300" cy="546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70" noProof="1" b="1">
                <a:solidFill>
                  <a:srgbClr val="1D1D1F"/>
                </a:solidFill>
                <a:latin typeface="MiSans"/>
                <a:ea typeface="MiSans"/>
              </a:rPr>
              <a:t>全球在線教育平台大盤</a:t>
            </a:r>
            <a:endParaRPr lang="en-US" sz="1470" noProof="1"/>
          </a:p>
          <a:p>
            <a:pPr algn="l">
              <a:lnSpc>
                <a:spcPct val="145000"/>
              </a:lnSpc>
            </a:pPr>
            <a:r>
              <a:rPr lang="en-US" sz="1200" noProof="1" b="1">
                <a:solidFill>
                  <a:srgbClr val="6E6E73"/>
                </a:solidFill>
                <a:latin typeface="MiSans"/>
                <a:ea typeface="MiSans"/>
              </a:rPr>
              <a:t>AI 滲透率與貢獻度急劇攀升</a:t>
            </a:r>
            <a:endParaRPr lang="en-US" sz="1470" noProof="1"/>
          </a:p>
        </p:txBody>
      </p:sp>
      <p:sp>
        <p:nvSpPr>
          <p:cNvPr id="12" name="tsm-card"/>
          <p:cNvSpPr/>
          <p:nvPr/>
        </p:nvSpPr>
        <p:spPr>
          <a:xfrm>
            <a:off x="1066800" y="3390900"/>
            <a:ext cx="4559300" cy="2489200"/>
          </a:xfrm>
          <a:prstGeom prst="roundRect">
            <a:avLst>
              <a:gd name="adj" fmla="val 92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13" name="tsm-title"/>
          <p:cNvSpPr txBox="1"/>
          <p:nvPr/>
        </p:nvSpPr>
        <p:spPr>
          <a:xfrm>
            <a:off x="1320800" y="3568700"/>
            <a:ext cx="40513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530" noProof="1" b="1">
                <a:solidFill>
                  <a:srgbClr val="1D1D1F"/>
                </a:solidFill>
                <a:latin typeface="MiSans"/>
                <a:ea typeface="MiSans"/>
              </a:rPr>
              <a:t>目標市場分層</a:t>
            </a:r>
            <a:endParaRPr lang="en-US" sz="1530" noProof="1"/>
          </a:p>
        </p:txBody>
      </p:sp>
      <p:sp>
        <p:nvSpPr>
          <p:cNvPr id="14" name="tam-tag"/>
          <p:cNvSpPr txBox="1"/>
          <p:nvPr/>
        </p:nvSpPr>
        <p:spPr>
          <a:xfrm>
            <a:off x="1320800" y="3987800"/>
            <a:ext cx="4572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30" noProof="1" b="1">
                <a:solidFill>
                  <a:srgbClr val="0071E3"/>
                </a:solidFill>
                <a:latin typeface="MiSans"/>
                <a:ea typeface="MiSans"/>
              </a:rPr>
              <a:t>TAM</a:t>
            </a:r>
            <a:endParaRPr lang="en-US" sz="1330" noProof="1"/>
          </a:p>
        </p:txBody>
      </p:sp>
      <p:sp>
        <p:nvSpPr>
          <p:cNvPr id="15" name="tam-desc"/>
          <p:cNvSpPr txBox="1"/>
          <p:nvPr/>
        </p:nvSpPr>
        <p:spPr>
          <a:xfrm>
            <a:off x="1905000" y="3987800"/>
            <a:ext cx="27940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70" noProof="1">
                <a:solidFill>
                  <a:srgbClr val="6E6E73"/>
                </a:solidFill>
                <a:latin typeface="MiSans"/>
                <a:ea typeface="MiSans"/>
              </a:rPr>
              <a:t>全球碎片化學習需求成年人</a:t>
            </a:r>
            <a:endParaRPr lang="en-US" sz="1270" noProof="1"/>
          </a:p>
        </p:txBody>
      </p:sp>
      <p:sp>
        <p:nvSpPr>
          <p:cNvPr id="16" name="tam-val"/>
          <p:cNvSpPr txBox="1"/>
          <p:nvPr/>
        </p:nvSpPr>
        <p:spPr>
          <a:xfrm>
            <a:off x="4191000" y="3975100"/>
            <a:ext cx="11811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b="1">
                <a:solidFill>
                  <a:srgbClr val="1D1D1F"/>
                </a:solidFill>
                <a:latin typeface="MiSans"/>
                <a:ea typeface="MiSans"/>
              </a:rPr>
              <a:t>約 5 億</a:t>
            </a:r>
            <a:endParaRPr lang="en-US" sz="1400" noProof="1"/>
          </a:p>
        </p:txBody>
      </p:sp>
      <p:sp>
        <p:nvSpPr>
          <p:cNvPr id="17" name="sam-tag"/>
          <p:cNvSpPr txBox="1"/>
          <p:nvPr/>
        </p:nvSpPr>
        <p:spPr>
          <a:xfrm>
            <a:off x="1320800" y="4343400"/>
            <a:ext cx="4572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30" noProof="1" b="1">
                <a:solidFill>
                  <a:srgbClr val="0071E3"/>
                </a:solidFill>
                <a:latin typeface="MiSans"/>
                <a:ea typeface="MiSans"/>
              </a:rPr>
              <a:t>SAM</a:t>
            </a:r>
            <a:endParaRPr lang="en-US" sz="1330" noProof="1"/>
          </a:p>
        </p:txBody>
      </p:sp>
      <p:sp>
        <p:nvSpPr>
          <p:cNvPr id="18" name="sam-desc"/>
          <p:cNvSpPr txBox="1"/>
          <p:nvPr/>
        </p:nvSpPr>
        <p:spPr>
          <a:xfrm>
            <a:off x="1905000" y="4343400"/>
            <a:ext cx="27940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70" noProof="1">
                <a:solidFill>
                  <a:srgbClr val="6E6E73"/>
                </a:solidFill>
                <a:latin typeface="MiSans"/>
                <a:ea typeface="MiSans"/>
              </a:rPr>
              <a:t>英語市場 18–40 歲職業進修人群</a:t>
            </a:r>
            <a:endParaRPr lang="en-US" sz="1270" noProof="1"/>
          </a:p>
        </p:txBody>
      </p:sp>
      <p:sp>
        <p:nvSpPr>
          <p:cNvPr id="19" name="sam-val"/>
          <p:cNvSpPr txBox="1"/>
          <p:nvPr/>
        </p:nvSpPr>
        <p:spPr>
          <a:xfrm>
            <a:off x="4191000" y="4330700"/>
            <a:ext cx="11811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b="1">
                <a:solidFill>
                  <a:srgbClr val="1D1D1F"/>
                </a:solidFill>
                <a:latin typeface="MiSans"/>
                <a:ea typeface="MiSans"/>
              </a:rPr>
              <a:t>約 8,000 萬</a:t>
            </a:r>
            <a:endParaRPr lang="en-US" sz="1400" noProof="1"/>
          </a:p>
        </p:txBody>
      </p:sp>
      <p:sp>
        <p:nvSpPr>
          <p:cNvPr id="20" name="som-tag"/>
          <p:cNvSpPr txBox="1"/>
          <p:nvPr/>
        </p:nvSpPr>
        <p:spPr>
          <a:xfrm>
            <a:off x="1320800" y="4699000"/>
            <a:ext cx="4572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30" noProof="1" b="1">
                <a:solidFill>
                  <a:srgbClr val="0071E3"/>
                </a:solidFill>
                <a:latin typeface="MiSans"/>
                <a:ea typeface="MiSans"/>
              </a:rPr>
              <a:t>SOM</a:t>
            </a:r>
            <a:endParaRPr lang="en-US" sz="1330" noProof="1"/>
          </a:p>
        </p:txBody>
      </p:sp>
      <p:sp>
        <p:nvSpPr>
          <p:cNvPr id="21" name="som-desc"/>
          <p:cNvSpPr txBox="1"/>
          <p:nvPr/>
        </p:nvSpPr>
        <p:spPr>
          <a:xfrm>
            <a:off x="1905000" y="4699000"/>
            <a:ext cx="27940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70" noProof="1">
                <a:solidFill>
                  <a:srgbClr val="6E6E73"/>
                </a:solidFill>
                <a:latin typeface="MiSans"/>
                <a:ea typeface="MiSans"/>
              </a:rPr>
              <a:t>香港及大灣區大專生、初級職場人士</a:t>
            </a:r>
            <a:endParaRPr lang="en-US" sz="1270" noProof="1"/>
          </a:p>
        </p:txBody>
      </p:sp>
      <p:sp>
        <p:nvSpPr>
          <p:cNvPr id="22" name="som-val"/>
          <p:cNvSpPr txBox="1"/>
          <p:nvPr/>
        </p:nvSpPr>
        <p:spPr>
          <a:xfrm>
            <a:off x="4191000" y="4686300"/>
            <a:ext cx="11811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b="1">
                <a:solidFill>
                  <a:srgbClr val="1D1D1F"/>
                </a:solidFill>
                <a:latin typeface="MiSans"/>
                <a:ea typeface="MiSans"/>
              </a:rPr>
              <a:t>約 50 萬</a:t>
            </a:r>
            <a:endParaRPr lang="en-US" sz="1400" noProof="1"/>
          </a:p>
        </p:txBody>
      </p:sp>
      <p:sp>
        <p:nvSpPr>
          <p:cNvPr id="23" name="biz-card"/>
          <p:cNvSpPr/>
          <p:nvPr/>
        </p:nvSpPr>
        <p:spPr>
          <a:xfrm>
            <a:off x="5854700" y="3390900"/>
            <a:ext cx="4559300" cy="2489200"/>
          </a:xfrm>
          <a:prstGeom prst="roundRect">
            <a:avLst>
              <a:gd name="adj" fmla="val 92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24" name="biz-title"/>
          <p:cNvSpPr txBox="1"/>
          <p:nvPr/>
        </p:nvSpPr>
        <p:spPr>
          <a:xfrm>
            <a:off x="6108700" y="3568700"/>
            <a:ext cx="40513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530" noProof="1" b="1">
                <a:solidFill>
                  <a:srgbClr val="1D1D1F"/>
                </a:solidFill>
                <a:latin typeface="MiSans"/>
                <a:ea typeface="MiSans"/>
              </a:rPr>
              <a:t>商業模式</a:t>
            </a:r>
            <a:endParaRPr lang="en-US" sz="1530" noProof="1"/>
          </a:p>
        </p:txBody>
      </p:sp>
      <p:sp>
        <p:nvSpPr>
          <p:cNvPr id="25" name="biz-p1"/>
          <p:cNvSpPr txBox="1"/>
          <p:nvPr/>
        </p:nvSpPr>
        <p:spPr>
          <a:xfrm>
            <a:off x="6108700" y="3975100"/>
            <a:ext cx="4051300" cy="520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270" noProof="1" b="1">
                <a:solidFill>
                  <a:srgbClr val="6E6E73"/>
                </a:solidFill>
                <a:latin typeface="MiSans"/>
                <a:ea typeface="MiSans"/>
              </a:rPr>
              <a:t>Freemium</a:t>
            </a:r>
            <a:r>
              <a:rPr lang="en-US" sz="1270" noProof="1">
                <a:solidFill>
                  <a:srgbClr val="6E6E73"/>
                </a:solidFill>
                <a:latin typeface="MiSans"/>
                <a:ea typeface="MiSans"/>
              </a:rPr>
              <a:t>——免費每日 1 條 Feed，付費解鎖無限 Feed 與進階主題。</a:t>
            </a:r>
            <a:endParaRPr lang="en-US" sz="1270" noProof="1"/>
          </a:p>
        </p:txBody>
      </p:sp>
      <p:sp>
        <p:nvSpPr>
          <p:cNvPr id="26" name="biz-p2"/>
          <p:cNvSpPr txBox="1"/>
          <p:nvPr/>
        </p:nvSpPr>
        <p:spPr>
          <a:xfrm>
            <a:off x="6108700" y="4584700"/>
            <a:ext cx="4051300" cy="520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270" noProof="1" b="1">
                <a:solidFill>
                  <a:srgbClr val="6E6E73"/>
                </a:solidFill>
                <a:latin typeface="MiSans"/>
                <a:ea typeface="MiSans"/>
              </a:rPr>
              <a:t>B2B SaaS</a:t>
            </a:r>
            <a:r>
              <a:rPr lang="en-US" sz="1270" noProof="1">
                <a:solidFill>
                  <a:srgbClr val="6E6E73"/>
                </a:solidFill>
                <a:latin typeface="MiSans"/>
                <a:ea typeface="MiSans"/>
              </a:rPr>
              <a:t>——企業微學習方案，按人頭訂閱，接入內部知識庫。</a:t>
            </a:r>
            <a:endParaRPr lang="en-US" sz="1270" noProof="1"/>
          </a:p>
        </p:txBody>
      </p:sp>
      <p:sp>
        <p:nvSpPr>
          <p:cNvPr id="27" name="biz-p3"/>
          <p:cNvSpPr txBox="1"/>
          <p:nvPr/>
        </p:nvSpPr>
        <p:spPr>
          <a:xfrm>
            <a:off x="6108700" y="5181600"/>
            <a:ext cx="4051300" cy="520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270" noProof="1" b="1">
                <a:solidFill>
                  <a:srgbClr val="6E6E73"/>
                </a:solidFill>
                <a:latin typeface="MiSans"/>
                <a:ea typeface="MiSans"/>
              </a:rPr>
              <a:t>內容合作</a:t>
            </a:r>
            <a:r>
              <a:rPr lang="en-US" sz="1270" noProof="1">
                <a:solidFill>
                  <a:srgbClr val="6E6E73"/>
                </a:solidFill>
                <a:latin typeface="MiSans"/>
                <a:ea typeface="MiSans"/>
              </a:rPr>
              <a:t>——與 CFA、CPA 等機構分成，認證課程 Feed 化。</a:t>
            </a:r>
            <a:endParaRPr lang="en-US" sz="1270" noProof="1"/>
          </a:p>
        </p:txBody>
      </p:sp>
      <p:sp>
        <p:nvSpPr>
          <p:cNvPr id="28" name="goal-card"/>
          <p:cNvSpPr/>
          <p:nvPr/>
        </p:nvSpPr>
        <p:spPr>
          <a:xfrm>
            <a:off x="10629900" y="3390900"/>
            <a:ext cx="4559300" cy="2489200"/>
          </a:xfrm>
          <a:prstGeom prst="roundRect">
            <a:avLst>
              <a:gd name="adj" fmla="val 92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29" name="goal-title"/>
          <p:cNvSpPr txBox="1"/>
          <p:nvPr/>
        </p:nvSpPr>
        <p:spPr>
          <a:xfrm>
            <a:off x="10883900" y="3568700"/>
            <a:ext cx="40513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530" noProof="1" b="1">
                <a:solidFill>
                  <a:srgbClr val="1D1D1F"/>
                </a:solidFill>
                <a:latin typeface="MiSans"/>
                <a:ea typeface="MiSans"/>
              </a:rPr>
              <a:t>12 個月可衡量目標</a:t>
            </a:r>
            <a:endParaRPr lang="en-US" sz="1530" noProof="1"/>
          </a:p>
        </p:txBody>
      </p:sp>
      <p:sp>
        <p:nvSpPr>
          <p:cNvPr id="30" name="goal1-num"/>
          <p:cNvSpPr txBox="1"/>
          <p:nvPr/>
        </p:nvSpPr>
        <p:spPr>
          <a:xfrm>
            <a:off x="10883900" y="4267200"/>
            <a:ext cx="11938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2930" noProof="1" b="1">
                <a:solidFill>
                  <a:srgbClr val="1D1D1F"/>
                </a:solidFill>
                <a:latin typeface="MiSans"/>
                <a:ea typeface="MiSans"/>
              </a:rPr>
              <a:t>500</a:t>
            </a:r>
            <a:r>
              <a:rPr lang="en-US" sz="1600" noProof="1" b="1">
                <a:solidFill>
                  <a:srgbClr val="6E6E73"/>
                </a:solidFill>
                <a:latin typeface="MiSans"/>
                <a:ea typeface="MiSans"/>
              </a:rPr>
              <a:t>+</a:t>
            </a:r>
            <a:endParaRPr lang="en-US" sz="1600" noProof="1"/>
          </a:p>
        </p:txBody>
      </p:sp>
      <p:sp>
        <p:nvSpPr>
          <p:cNvPr id="31" name="goal1-label"/>
          <p:cNvSpPr txBox="1"/>
          <p:nvPr/>
        </p:nvSpPr>
        <p:spPr>
          <a:xfrm>
            <a:off x="10883900" y="4851400"/>
            <a:ext cx="1193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5000"/>
              </a:lnSpc>
            </a:pPr>
            <a:r>
              <a:rPr lang="en-US" sz="1200" noProof="1" b="1">
                <a:solidFill>
                  <a:srgbClr val="1D1D1F"/>
                </a:solidFill>
                <a:latin typeface="MiSans"/>
                <a:ea typeface="MiSans"/>
              </a:rPr>
              <a:t>種子用戶</a:t>
            </a:r>
            <a:endParaRPr lang="en-US" sz="1200" noProof="1"/>
          </a:p>
          <a:p>
            <a:pPr algn="ctr">
              <a:lnSpc>
                <a:spcPct val="145000"/>
              </a:lnSpc>
            </a:pPr>
            <a:r>
              <a:rPr lang="en-US" sz="1200" noProof="1" b="1">
                <a:solidFill>
                  <a:srgbClr val="1D1D1F"/>
                </a:solidFill>
                <a:latin typeface="MiSans"/>
                <a:ea typeface="MiSans"/>
              </a:rPr>
              <a:t>（6 個月）</a:t>
            </a:r>
            <a:endParaRPr lang="en-US" sz="1200" noProof="1"/>
          </a:p>
        </p:txBody>
      </p:sp>
      <p:sp>
        <p:nvSpPr>
          <p:cNvPr id="32" name="goal2-num"/>
          <p:cNvSpPr txBox="1"/>
          <p:nvPr/>
        </p:nvSpPr>
        <p:spPr>
          <a:xfrm>
            <a:off x="12319000" y="4267200"/>
            <a:ext cx="11938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2930" noProof="1" b="1">
                <a:solidFill>
                  <a:srgbClr val="1D1D1F"/>
                </a:solidFill>
                <a:latin typeface="MiSans"/>
                <a:ea typeface="MiSans"/>
              </a:rPr>
              <a:t>20</a:t>
            </a:r>
            <a:r>
              <a:rPr lang="en-US" sz="1600" noProof="1" b="1">
                <a:solidFill>
                  <a:srgbClr val="6E6E73"/>
                </a:solidFill>
                <a:latin typeface="MiSans"/>
                <a:ea typeface="MiSans"/>
              </a:rPr>
              <a:t>+</a:t>
            </a:r>
            <a:endParaRPr lang="en-US" sz="1600" noProof="1"/>
          </a:p>
        </p:txBody>
      </p:sp>
      <p:sp>
        <p:nvSpPr>
          <p:cNvPr id="33" name="goal2-label"/>
          <p:cNvSpPr txBox="1"/>
          <p:nvPr/>
        </p:nvSpPr>
        <p:spPr>
          <a:xfrm>
            <a:off x="12319000" y="4851400"/>
            <a:ext cx="1193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5000"/>
              </a:lnSpc>
            </a:pPr>
            <a:r>
              <a:rPr lang="en-US" sz="1200" noProof="1" b="1">
                <a:solidFill>
                  <a:srgbClr val="1D1D1F"/>
                </a:solidFill>
                <a:latin typeface="MiSans"/>
                <a:ea typeface="MiSans"/>
              </a:rPr>
              <a:t>可穩定生成</a:t>
            </a:r>
            <a:endParaRPr lang="en-US" sz="1200" noProof="1"/>
          </a:p>
          <a:p>
            <a:pPr algn="ctr">
              <a:lnSpc>
                <a:spcPct val="145000"/>
              </a:lnSpc>
            </a:pPr>
            <a:r>
              <a:rPr lang="en-US" sz="1200" noProof="1" b="1">
                <a:solidFill>
                  <a:srgbClr val="1D1D1F"/>
                </a:solidFill>
                <a:latin typeface="MiSans"/>
                <a:ea typeface="MiSans"/>
              </a:rPr>
              <a:t>學科領域</a:t>
            </a:r>
            <a:endParaRPr lang="en-US" sz="1200" noProof="1"/>
          </a:p>
        </p:txBody>
      </p:sp>
      <p:sp>
        <p:nvSpPr>
          <p:cNvPr id="34" name="goal3-num"/>
          <p:cNvSpPr txBox="1"/>
          <p:nvPr/>
        </p:nvSpPr>
        <p:spPr>
          <a:xfrm>
            <a:off x="13741400" y="4267200"/>
            <a:ext cx="11938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2930" noProof="1" b="1">
                <a:solidFill>
                  <a:srgbClr val="1D1D1F"/>
                </a:solidFill>
                <a:latin typeface="MiSans"/>
                <a:ea typeface="MiSans"/>
              </a:rPr>
              <a:t>1000</a:t>
            </a:r>
            <a:r>
              <a:rPr lang="en-US" sz="1600" noProof="1" b="1">
                <a:solidFill>
                  <a:srgbClr val="6E6E73"/>
                </a:solidFill>
                <a:latin typeface="MiSans"/>
                <a:ea typeface="MiSans"/>
              </a:rPr>
              <a:t>+</a:t>
            </a:r>
            <a:endParaRPr lang="en-US" sz="1600" noProof="1"/>
          </a:p>
        </p:txBody>
      </p:sp>
      <p:sp>
        <p:nvSpPr>
          <p:cNvPr id="35" name="goal3-label"/>
          <p:cNvSpPr txBox="1"/>
          <p:nvPr/>
        </p:nvSpPr>
        <p:spPr>
          <a:xfrm>
            <a:off x="13741400" y="4851400"/>
            <a:ext cx="1193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5000"/>
              </a:lnSpc>
            </a:pPr>
            <a:r>
              <a:rPr lang="en-US" sz="1200" noProof="1" b="1">
                <a:solidFill>
                  <a:srgbClr val="1D1D1F"/>
                </a:solidFill>
                <a:latin typeface="MiSans"/>
                <a:ea typeface="MiSans"/>
              </a:rPr>
              <a:t>日活躍用戶</a:t>
            </a:r>
            <a:endParaRPr lang="en-US" sz="1200" noProof="1"/>
          </a:p>
          <a:p>
            <a:pPr algn="ctr">
              <a:lnSpc>
                <a:spcPct val="145000"/>
              </a:lnSpc>
            </a:pPr>
            <a:r>
              <a:rPr lang="en-US" sz="1200" noProof="1" b="1">
                <a:solidFill>
                  <a:srgbClr val="1D1D1F"/>
                </a:solidFill>
                <a:latin typeface="MiSans"/>
                <a:ea typeface="MiSans"/>
              </a:rPr>
              <a:t>（DAU）</a:t>
            </a:r>
            <a:endParaRPr lang="en-US" sz="1200" noProof="1"/>
          </a:p>
        </p:txBody>
      </p:sp>
      <p:sp>
        <p:nvSpPr>
          <p:cNvPr id="36" name="gtm-h3"/>
          <p:cNvSpPr txBox="1"/>
          <p:nvPr/>
        </p:nvSpPr>
        <p:spPr>
          <a:xfrm>
            <a:off x="1066800" y="6083300"/>
            <a:ext cx="14122400" cy="317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730" noProof="1" b="1">
                <a:solidFill>
                  <a:srgbClr val="1D1D1F"/>
                </a:solidFill>
                <a:latin typeface="MiSans"/>
                <a:ea typeface="MiSans"/>
              </a:rPr>
              <a:t>進入策略：三步走</a:t>
            </a:r>
            <a:endParaRPr lang="en-US" sz="1730" noProof="1"/>
          </a:p>
        </p:txBody>
      </p:sp>
      <p:sp>
        <p:nvSpPr>
          <p:cNvPr id="37" name="gtm-step1"/>
          <p:cNvSpPr/>
          <p:nvPr/>
        </p:nvSpPr>
        <p:spPr>
          <a:xfrm>
            <a:off x="1066800" y="6527800"/>
            <a:ext cx="4356100" cy="1168400"/>
          </a:xfrm>
          <a:prstGeom prst="roundRect">
            <a:avLst>
              <a:gd name="adj" fmla="val 152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38" name="gtm1-num"/>
          <p:cNvSpPr txBox="1"/>
          <p:nvPr/>
        </p:nvSpPr>
        <p:spPr>
          <a:xfrm>
            <a:off x="1244600" y="6680200"/>
            <a:ext cx="40005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730" noProof="1" b="1">
                <a:solidFill>
                  <a:srgbClr val="0071E3"/>
                </a:solidFill>
                <a:latin typeface="MiSans"/>
                <a:ea typeface="MiSans"/>
              </a:rPr>
              <a:t>1</a:t>
            </a:r>
            <a:endParaRPr lang="en-US" sz="1730" noProof="1"/>
          </a:p>
        </p:txBody>
      </p:sp>
      <p:sp>
        <p:nvSpPr>
          <p:cNvPr id="39" name="gtm1-title"/>
          <p:cNvSpPr txBox="1"/>
          <p:nvPr/>
        </p:nvSpPr>
        <p:spPr>
          <a:xfrm>
            <a:off x="1244600" y="6972300"/>
            <a:ext cx="40005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530" noProof="1" b="1">
                <a:solidFill>
                  <a:srgbClr val="1D1D1F"/>
                </a:solidFill>
                <a:latin typeface="MiSans"/>
                <a:ea typeface="MiSans"/>
              </a:rPr>
              <a:t>校園試點 </a:t>
            </a:r>
            <a:r>
              <a:rPr lang="en-US" sz="1200" noProof="1" b="1">
                <a:solidFill>
                  <a:srgbClr val="6E6E73"/>
                </a:solidFill>
                <a:latin typeface="MiSans"/>
                <a:ea typeface="MiSans"/>
              </a:rPr>
              <a:t>2026 Q3</a:t>
            </a:r>
            <a:endParaRPr lang="en-US" sz="1530" noProof="1"/>
          </a:p>
        </p:txBody>
      </p:sp>
      <p:sp>
        <p:nvSpPr>
          <p:cNvPr id="40" name="gtm1-desc"/>
          <p:cNvSpPr txBox="1"/>
          <p:nvPr/>
        </p:nvSpPr>
        <p:spPr>
          <a:xfrm>
            <a:off x="1244600" y="7302500"/>
            <a:ext cx="40005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45000"/>
              </a:lnSpc>
            </a:pPr>
            <a:r>
              <a:rPr lang="en-US" sz="1270" noProof="1">
                <a:solidFill>
                  <a:srgbClr val="6E6E73"/>
                </a:solidFill>
                <a:latin typeface="MiSans"/>
                <a:ea typeface="MiSans"/>
              </a:rPr>
              <a:t>本地院校 100 名種子用戶，驗證留存</a:t>
            </a:r>
            <a:endParaRPr lang="en-US" sz="1270" noProof="1"/>
          </a:p>
        </p:txBody>
      </p:sp>
      <p:sp>
        <p:nvSpPr>
          <p:cNvPr id="41" name="gtm-arrow1"/>
          <p:cNvSpPr txBox="1"/>
          <p:nvPr/>
        </p:nvSpPr>
        <p:spPr>
          <a:xfrm>
            <a:off x="5575300" y="6527800"/>
            <a:ext cx="2159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30" noProof="1" b="1">
                <a:solidFill>
                  <a:srgbClr val="0071E3"/>
                </a:solidFill>
                <a:latin typeface="MiSans"/>
                <a:ea typeface="MiSans"/>
              </a:rPr>
              <a:t>→</a:t>
            </a:r>
            <a:endParaRPr lang="en-US" sz="1730" noProof="1"/>
          </a:p>
        </p:txBody>
      </p:sp>
      <p:sp>
        <p:nvSpPr>
          <p:cNvPr id="42" name="gtm-step2"/>
          <p:cNvSpPr/>
          <p:nvPr/>
        </p:nvSpPr>
        <p:spPr>
          <a:xfrm>
            <a:off x="5943600" y="6527800"/>
            <a:ext cx="4356100" cy="1168400"/>
          </a:xfrm>
          <a:prstGeom prst="roundRect">
            <a:avLst>
              <a:gd name="adj" fmla="val 152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43" name="gtm2-num"/>
          <p:cNvSpPr txBox="1"/>
          <p:nvPr/>
        </p:nvSpPr>
        <p:spPr>
          <a:xfrm>
            <a:off x="6121400" y="6680200"/>
            <a:ext cx="40005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730" noProof="1" b="1">
                <a:solidFill>
                  <a:srgbClr val="0071E3"/>
                </a:solidFill>
                <a:latin typeface="MiSans"/>
                <a:ea typeface="MiSans"/>
              </a:rPr>
              <a:t>2</a:t>
            </a:r>
            <a:endParaRPr lang="en-US" sz="1730" noProof="1"/>
          </a:p>
        </p:txBody>
      </p:sp>
      <p:sp>
        <p:nvSpPr>
          <p:cNvPr id="44" name="gtm2-title"/>
          <p:cNvSpPr txBox="1"/>
          <p:nvPr/>
        </p:nvSpPr>
        <p:spPr>
          <a:xfrm>
            <a:off x="6121400" y="6972300"/>
            <a:ext cx="40005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530" noProof="1" b="1">
                <a:solidFill>
                  <a:srgbClr val="1D1D1F"/>
                </a:solidFill>
                <a:latin typeface="MiSans"/>
                <a:ea typeface="MiSans"/>
              </a:rPr>
              <a:t>大灣區推廣 </a:t>
            </a:r>
            <a:r>
              <a:rPr lang="en-US" sz="1200" noProof="1" b="1">
                <a:solidFill>
                  <a:srgbClr val="6E6E73"/>
                </a:solidFill>
                <a:latin typeface="MiSans"/>
                <a:ea typeface="MiSans"/>
              </a:rPr>
              <a:t>2026 Q4–2027</a:t>
            </a:r>
            <a:endParaRPr lang="en-US" sz="1530" noProof="1"/>
          </a:p>
        </p:txBody>
      </p:sp>
      <p:sp>
        <p:nvSpPr>
          <p:cNvPr id="45" name="gtm2-desc"/>
          <p:cNvSpPr txBox="1"/>
          <p:nvPr/>
        </p:nvSpPr>
        <p:spPr>
          <a:xfrm>
            <a:off x="6121400" y="7302500"/>
            <a:ext cx="40005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45000"/>
              </a:lnSpc>
            </a:pPr>
            <a:r>
              <a:rPr lang="en-US" sz="1270" noProof="1">
                <a:solidFill>
                  <a:srgbClr val="6E6E73"/>
                </a:solidFill>
                <a:latin typeface="MiSans"/>
                <a:ea typeface="MiSans"/>
              </a:rPr>
              <a:t>開源社區＋口碑傳播擴散</a:t>
            </a:r>
            <a:endParaRPr lang="en-US" sz="1270" noProof="1"/>
          </a:p>
        </p:txBody>
      </p:sp>
      <p:sp>
        <p:nvSpPr>
          <p:cNvPr id="46" name="gtm-arrow2"/>
          <p:cNvSpPr txBox="1"/>
          <p:nvPr/>
        </p:nvSpPr>
        <p:spPr>
          <a:xfrm>
            <a:off x="10464800" y="6527800"/>
            <a:ext cx="2159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30" noProof="1" b="1">
                <a:solidFill>
                  <a:srgbClr val="0071E3"/>
                </a:solidFill>
                <a:latin typeface="MiSans"/>
                <a:ea typeface="MiSans"/>
              </a:rPr>
              <a:t>→</a:t>
            </a:r>
            <a:endParaRPr lang="en-US" sz="1730" noProof="1"/>
          </a:p>
        </p:txBody>
      </p:sp>
      <p:sp>
        <p:nvSpPr>
          <p:cNvPr id="47" name="gtm-step3"/>
          <p:cNvSpPr/>
          <p:nvPr/>
        </p:nvSpPr>
        <p:spPr>
          <a:xfrm>
            <a:off x="10833100" y="6527800"/>
            <a:ext cx="4356100" cy="1168400"/>
          </a:xfrm>
          <a:prstGeom prst="roundRect">
            <a:avLst>
              <a:gd name="adj" fmla="val 152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48" name="gtm3-num"/>
          <p:cNvSpPr txBox="1"/>
          <p:nvPr/>
        </p:nvSpPr>
        <p:spPr>
          <a:xfrm>
            <a:off x="11010900" y="6680200"/>
            <a:ext cx="40005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730" noProof="1" b="1">
                <a:solidFill>
                  <a:srgbClr val="0071E3"/>
                </a:solidFill>
                <a:latin typeface="MiSans"/>
                <a:ea typeface="MiSans"/>
              </a:rPr>
              <a:t>3</a:t>
            </a:r>
            <a:endParaRPr lang="en-US" sz="1730" noProof="1"/>
          </a:p>
        </p:txBody>
      </p:sp>
      <p:sp>
        <p:nvSpPr>
          <p:cNvPr id="49" name="gtm3-title"/>
          <p:cNvSpPr txBox="1"/>
          <p:nvPr/>
        </p:nvSpPr>
        <p:spPr>
          <a:xfrm>
            <a:off x="11010900" y="6972300"/>
            <a:ext cx="40005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530" noProof="1" b="1">
                <a:solidFill>
                  <a:srgbClr val="1D1D1F"/>
                </a:solidFill>
                <a:latin typeface="MiSans"/>
                <a:ea typeface="MiSans"/>
              </a:rPr>
              <a:t>海外拓展 </a:t>
            </a:r>
            <a:r>
              <a:rPr lang="en-US" sz="1200" noProof="1" b="1">
                <a:solidFill>
                  <a:srgbClr val="6E6E73"/>
                </a:solidFill>
                <a:latin typeface="MiSans"/>
                <a:ea typeface="MiSans"/>
              </a:rPr>
              <a:t>2027+</a:t>
            </a:r>
            <a:endParaRPr lang="en-US" sz="1530" noProof="1"/>
          </a:p>
        </p:txBody>
      </p:sp>
      <p:sp>
        <p:nvSpPr>
          <p:cNvPr id="50" name="gtm3-desc"/>
          <p:cNvSpPr txBox="1"/>
          <p:nvPr/>
        </p:nvSpPr>
        <p:spPr>
          <a:xfrm>
            <a:off x="11010900" y="7302500"/>
            <a:ext cx="40005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45000"/>
              </a:lnSpc>
            </a:pPr>
            <a:r>
              <a:rPr lang="en-US" sz="1270" noProof="1">
                <a:solidFill>
                  <a:srgbClr val="6E6E73"/>
                </a:solidFill>
                <a:latin typeface="MiSans"/>
                <a:ea typeface="MiSans"/>
              </a:rPr>
              <a:t>B2B 與內容合作變現，進入 SAM</a:t>
            </a:r>
            <a:endParaRPr lang="en-US" sz="1270" noProof="1"/>
          </a:p>
        </p:txBody>
      </p:sp>
      <p:sp>
        <p:nvSpPr>
          <p:cNvPr id="51" name="footer-left"/>
          <p:cNvSpPr txBox="1"/>
          <p:nvPr/>
        </p:nvSpPr>
        <p:spPr>
          <a:xfrm>
            <a:off x="1066800" y="8597900"/>
            <a:ext cx="508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spc="190" kern="0">
                <a:solidFill>
                  <a:srgbClr val="6E6E73"/>
                </a:solidFill>
                <a:latin typeface="MiSans"/>
                <a:ea typeface="MiSans"/>
              </a:rPr>
              <a:t>KNOWFEED PITCH DECK</a:t>
            </a:r>
            <a:endParaRPr lang="en-US" sz="1200" noProof="1"/>
          </a:p>
        </p:txBody>
      </p:sp>
      <p:sp>
        <p:nvSpPr>
          <p:cNvPr id="52" name="footer-right"/>
          <p:cNvSpPr txBox="1"/>
          <p:nvPr/>
        </p:nvSpPr>
        <p:spPr>
          <a:xfrm>
            <a:off x="13919200" y="8597900"/>
            <a:ext cx="127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200" noProof="1" b="1" spc="190" kern="0">
                <a:solidFill>
                  <a:srgbClr val="1D1D1F"/>
                </a:solidFill>
                <a:latin typeface="MiSans"/>
                <a:ea typeface="MiSans"/>
              </a:rPr>
              <a:t>09 / 12</a:t>
            </a:r>
            <a:endParaRPr lang="en-US" sz="12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tick"/>
          <p:cNvSpPr/>
          <p:nvPr/>
        </p:nvSpPr>
        <p:spPr>
          <a:xfrm>
            <a:off x="1066800" y="711200"/>
            <a:ext cx="355600" cy="381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</p:sp>
      <p:sp>
        <p:nvSpPr>
          <p:cNvPr id="3" name="header-title"/>
          <p:cNvSpPr txBox="1"/>
          <p:nvPr/>
        </p:nvSpPr>
        <p:spPr>
          <a:xfrm>
            <a:off x="1066800" y="901700"/>
            <a:ext cx="1143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 spc="-60" kern="0">
                <a:solidFill>
                  <a:srgbClr val="1D1D1F"/>
                </a:solidFill>
                <a:latin typeface="MiSans"/>
                <a:ea typeface="MiSans"/>
              </a:rPr>
              <a:t>後續功能：靈寵系統</a:t>
            </a:r>
            <a:endParaRPr lang="en-US" sz="4000" noProof="1"/>
          </a:p>
        </p:txBody>
      </p:sp>
      <p:sp>
        <p:nvSpPr>
          <p:cNvPr id="4" name="header-tag"/>
          <p:cNvSpPr txBox="1"/>
          <p:nvPr/>
        </p:nvSpPr>
        <p:spPr>
          <a:xfrm>
            <a:off x="11379200" y="11811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spc="280" kern="0">
                <a:solidFill>
                  <a:srgbClr val="6E6E73"/>
                </a:solidFill>
                <a:latin typeface="MiSans"/>
                <a:ea typeface="MiSans"/>
              </a:rPr>
              <a:t>09 / FUTURE</a:t>
            </a:r>
            <a:endParaRPr lang="en-US" sz="1400" noProof="1"/>
          </a:p>
        </p:txBody>
      </p:sp>
      <p:sp>
        <p:nvSpPr>
          <p:cNvPr id="5" name="header-line"/>
          <p:cNvSpPr/>
          <p:nvPr/>
        </p:nvSpPr>
        <p:spPr>
          <a:xfrm>
            <a:off x="1066800" y="1727200"/>
            <a:ext cx="14122400" cy="12700"/>
          </a:xfrm>
          <a:prstGeom prst="rect">
            <a:avLst/>
          </a:prstGeom>
          <a:solidFill>
            <a:srgbClr val="E6E6E9"/>
          </a:solidFill>
          <a:ln>
            <a:noFill/>
          </a:ln>
        </p:spPr>
      </p:sp>
      <p:sp>
        <p:nvSpPr>
          <p:cNvPr id="6" name="quote-bar"/>
          <p:cNvSpPr/>
          <p:nvPr/>
        </p:nvSpPr>
        <p:spPr>
          <a:xfrm>
            <a:off x="1066800" y="1981200"/>
            <a:ext cx="38100" cy="431800"/>
          </a:xfrm>
          <a:prstGeom prst="rect">
            <a:avLst/>
          </a:prstGeom>
          <a:solidFill>
            <a:srgbClr val="0071E3"/>
          </a:solidFill>
          <a:ln>
            <a:noFill/>
          </a:ln>
        </p:spPr>
      </p:sp>
      <p:sp>
        <p:nvSpPr>
          <p:cNvPr id="7" name="quote-t1"/>
          <p:cNvSpPr txBox="1"/>
          <p:nvPr/>
        </p:nvSpPr>
        <p:spPr>
          <a:xfrm>
            <a:off x="1409700" y="2006600"/>
            <a:ext cx="44577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2000" noProof="1" b="1" spc="-20" kern="0">
                <a:solidFill>
                  <a:srgbClr val="1D1D1F"/>
                </a:solidFill>
                <a:latin typeface="MiSans"/>
                <a:ea typeface="MiSans"/>
              </a:rPr>
              <a:t>把「每日 5–10 分鐘」從任務，變成一場</a:t>
            </a:r>
            <a:endParaRPr lang="en-US" sz="2000" noProof="1"/>
          </a:p>
        </p:txBody>
      </p:sp>
      <p:sp>
        <p:nvSpPr>
          <p:cNvPr id="8" name="quote-grad"/>
          <p:cNvSpPr txBox="1"/>
          <p:nvPr/>
        </p:nvSpPr>
        <p:spPr>
          <a:xfrm>
            <a:off x="5867400" y="2006600"/>
            <a:ext cx="17653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 spc="-20" kern="0">
                <a:gradFill rotWithShape="1">
                  <a:gsLst>
                    <a:gs pos="0">
                      <a:srgbClr val="0071E3"/>
                    </a:gs>
                    <a:gs pos="100000">
                      <a:srgbClr val="BF5AF2"/>
                    </a:gs>
                  </a:gsLst>
                  <a:lin ang="5520000" scaled="1"/>
                </a:gradFill>
                <a:latin typeface="MiSans"/>
                <a:ea typeface="MiSans"/>
              </a:rPr>
              <a:t>想回來看看結果</a:t>
            </a:r>
            <a:endParaRPr lang="en-US" sz="2000" noProof="1"/>
          </a:p>
        </p:txBody>
      </p:sp>
      <p:sp>
        <p:nvSpPr>
          <p:cNvPr id="9" name="quote-t3"/>
          <p:cNvSpPr txBox="1"/>
          <p:nvPr/>
        </p:nvSpPr>
        <p:spPr>
          <a:xfrm>
            <a:off x="7632700" y="20066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 spc="-20" kern="0">
                <a:solidFill>
                  <a:srgbClr val="1D1D1F"/>
                </a:solidFill>
                <a:latin typeface="MiSans"/>
                <a:ea typeface="MiSans"/>
              </a:rPr>
              <a:t>的約定。</a:t>
            </a:r>
            <a:endParaRPr lang="en-US" sz="2000" noProof="1"/>
          </a:p>
        </p:txBody>
      </p:sp>
      <p:sp>
        <p:nvSpPr>
          <p:cNvPr id="10" name="prob-card"/>
          <p:cNvSpPr/>
          <p:nvPr/>
        </p:nvSpPr>
        <p:spPr>
          <a:xfrm>
            <a:off x="1066800" y="2641600"/>
            <a:ext cx="7264400" cy="1676400"/>
          </a:xfrm>
          <a:prstGeom prst="roundRect">
            <a:avLst>
              <a:gd name="adj" fmla="val 121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11" name="prob-tag"/>
          <p:cNvSpPr txBox="1"/>
          <p:nvPr/>
        </p:nvSpPr>
        <p:spPr>
          <a:xfrm>
            <a:off x="1320800" y="2832100"/>
            <a:ext cx="67564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30" noProof="1" b="1" spc="110" kern="0">
                <a:solidFill>
                  <a:srgbClr val="0071E3"/>
                </a:solidFill>
                <a:latin typeface="MiSans"/>
                <a:ea typeface="MiSans"/>
              </a:rPr>
              <a:t>現存問題</a:t>
            </a:r>
            <a:endParaRPr lang="en-US" sz="1330" noProof="1"/>
          </a:p>
        </p:txBody>
      </p:sp>
      <p:sp>
        <p:nvSpPr>
          <p:cNvPr id="12" name="prob-title"/>
          <p:cNvSpPr txBox="1"/>
          <p:nvPr/>
        </p:nvSpPr>
        <p:spPr>
          <a:xfrm>
            <a:off x="1320800" y="3175000"/>
            <a:ext cx="6756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70" noProof="1" b="1">
                <a:solidFill>
                  <a:srgbClr val="1D1D1F"/>
                </a:solidFill>
                <a:latin typeface="MiSans"/>
                <a:ea typeface="MiSans"/>
              </a:rPr>
              <a:t>社區與 AI 分身之外，仍有「純文本」的枯燥感</a:t>
            </a:r>
            <a:endParaRPr lang="en-US" sz="1670" noProof="1"/>
          </a:p>
        </p:txBody>
      </p:sp>
      <p:sp>
        <p:nvSpPr>
          <p:cNvPr id="13" name="prob-desc"/>
          <p:cNvSpPr txBox="1"/>
          <p:nvPr/>
        </p:nvSpPr>
        <p:spPr>
          <a:xfrm>
            <a:off x="1320800" y="3556000"/>
            <a:ext cx="67564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長時間刷 Feed 仍會產生學習疲勞；缺少輕量遊戲化鉤子，趣味性不足，用戶難以長期堅持每日「5–10 分鐘」。</a:t>
            </a:r>
            <a:endParaRPr lang="en-US" sz="1400" noProof="1"/>
          </a:p>
        </p:txBody>
      </p:sp>
      <p:sp>
        <p:nvSpPr>
          <p:cNvPr id="14" name="game-card"/>
          <p:cNvSpPr/>
          <p:nvPr/>
        </p:nvSpPr>
        <p:spPr>
          <a:xfrm>
            <a:off x="1066800" y="4495800"/>
            <a:ext cx="7264400" cy="3429000"/>
          </a:xfrm>
          <a:prstGeom prst="roundRect">
            <a:avLst>
              <a:gd name="adj" fmla="val 59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15" name="game-tag"/>
          <p:cNvSpPr txBox="1"/>
          <p:nvPr/>
        </p:nvSpPr>
        <p:spPr>
          <a:xfrm>
            <a:off x="1320800" y="4699000"/>
            <a:ext cx="67564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30" noProof="1" b="1" spc="110" kern="0">
                <a:solidFill>
                  <a:srgbClr val="0071E3"/>
                </a:solidFill>
                <a:latin typeface="MiSans"/>
                <a:ea typeface="MiSans"/>
              </a:rPr>
              <a:t>新增玩法 · 問答小遊戲</a:t>
            </a:r>
            <a:endParaRPr lang="en-US" sz="1330" noProof="1"/>
          </a:p>
        </p:txBody>
      </p:sp>
      <p:sp>
        <p:nvSpPr>
          <p:cNvPr id="16" name="game-title"/>
          <p:cNvSpPr txBox="1"/>
          <p:nvPr/>
        </p:nvSpPr>
        <p:spPr>
          <a:xfrm>
            <a:off x="1320800" y="5041900"/>
            <a:ext cx="6756400" cy="317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730" noProof="1" b="1">
                <a:solidFill>
                  <a:srgbClr val="1D1D1F"/>
                </a:solidFill>
                <a:latin typeface="MiSans"/>
                <a:ea typeface="MiSans"/>
              </a:rPr>
              <a:t>學習前，先為社區辯論「站隊押注」</a:t>
            </a:r>
            <a:endParaRPr lang="en-US" sz="1730" noProof="1"/>
          </a:p>
        </p:txBody>
      </p:sp>
      <p:sp>
        <p:nvSpPr>
          <p:cNvPr id="17" name="gstep1"/>
          <p:cNvSpPr/>
          <p:nvPr/>
        </p:nvSpPr>
        <p:spPr>
          <a:xfrm>
            <a:off x="1320800" y="5486400"/>
            <a:ext cx="1943100" cy="1346200"/>
          </a:xfrm>
          <a:prstGeom prst="roundRect">
            <a:avLst>
              <a:gd name="adj" fmla="val 132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18" name="gstep1-num"/>
          <p:cNvSpPr txBox="1"/>
          <p:nvPr/>
        </p:nvSpPr>
        <p:spPr>
          <a:xfrm>
            <a:off x="1473200" y="5613400"/>
            <a:ext cx="16383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730" noProof="1" b="1">
                <a:solidFill>
                  <a:srgbClr val="0071E3"/>
                </a:solidFill>
                <a:latin typeface="MiSans"/>
                <a:ea typeface="MiSans"/>
              </a:rPr>
              <a:t>1</a:t>
            </a:r>
            <a:endParaRPr lang="en-US" sz="1730" noProof="1"/>
          </a:p>
        </p:txBody>
      </p:sp>
      <p:sp>
        <p:nvSpPr>
          <p:cNvPr id="19" name="gstep1-title"/>
          <p:cNvSpPr txBox="1"/>
          <p:nvPr/>
        </p:nvSpPr>
        <p:spPr>
          <a:xfrm>
            <a:off x="1473200" y="5905500"/>
            <a:ext cx="16383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530" noProof="1" b="1">
                <a:solidFill>
                  <a:srgbClr val="1D1D1F"/>
                </a:solidFill>
                <a:latin typeface="MiSans"/>
                <a:ea typeface="MiSans"/>
              </a:rPr>
              <a:t>今日爭論</a:t>
            </a:r>
            <a:endParaRPr lang="en-US" sz="1530" noProof="1"/>
          </a:p>
        </p:txBody>
      </p:sp>
      <p:sp>
        <p:nvSpPr>
          <p:cNvPr id="20" name="gstep1-desc"/>
          <p:cNvSpPr txBox="1"/>
          <p:nvPr/>
        </p:nvSpPr>
        <p:spPr>
          <a:xfrm>
            <a:off x="1473200" y="6235700"/>
            <a:ext cx="16383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270" noProof="1">
                <a:solidFill>
                  <a:srgbClr val="6E6E73"/>
                </a:solidFill>
                <a:latin typeface="MiSans"/>
                <a:ea typeface="MiSans"/>
              </a:rPr>
              <a:t>展示分身社區正在辯論的 A / B 話題</a:t>
            </a:r>
            <a:endParaRPr lang="en-US" sz="1270" noProof="1"/>
          </a:p>
        </p:txBody>
      </p:sp>
      <p:sp>
        <p:nvSpPr>
          <p:cNvPr id="21" name="garrow1"/>
          <p:cNvSpPr txBox="1"/>
          <p:nvPr/>
        </p:nvSpPr>
        <p:spPr>
          <a:xfrm>
            <a:off x="3390900" y="5486400"/>
            <a:ext cx="215900" cy="1346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30" noProof="1" b="1">
                <a:solidFill>
                  <a:srgbClr val="0071E3"/>
                </a:solidFill>
                <a:latin typeface="MiSans"/>
                <a:ea typeface="MiSans"/>
              </a:rPr>
              <a:t>→</a:t>
            </a:r>
            <a:endParaRPr lang="en-US" sz="1730" noProof="1"/>
          </a:p>
        </p:txBody>
      </p:sp>
      <p:sp>
        <p:nvSpPr>
          <p:cNvPr id="22" name="gstep2"/>
          <p:cNvSpPr/>
          <p:nvPr/>
        </p:nvSpPr>
        <p:spPr>
          <a:xfrm>
            <a:off x="3733800" y="5486400"/>
            <a:ext cx="1943100" cy="1346200"/>
          </a:xfrm>
          <a:prstGeom prst="roundRect">
            <a:avLst>
              <a:gd name="adj" fmla="val 132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23" name="gstep2-num"/>
          <p:cNvSpPr txBox="1"/>
          <p:nvPr/>
        </p:nvSpPr>
        <p:spPr>
          <a:xfrm>
            <a:off x="3886200" y="5613400"/>
            <a:ext cx="16383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730" noProof="1" b="1">
                <a:solidFill>
                  <a:srgbClr val="0071E3"/>
                </a:solidFill>
                <a:latin typeface="MiSans"/>
                <a:ea typeface="MiSans"/>
              </a:rPr>
              <a:t>2</a:t>
            </a:r>
            <a:endParaRPr lang="en-US" sz="1730" noProof="1"/>
          </a:p>
        </p:txBody>
      </p:sp>
      <p:sp>
        <p:nvSpPr>
          <p:cNvPr id="24" name="gstep2-title"/>
          <p:cNvSpPr txBox="1"/>
          <p:nvPr/>
        </p:nvSpPr>
        <p:spPr>
          <a:xfrm>
            <a:off x="3886200" y="5905500"/>
            <a:ext cx="16383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530" noProof="1" b="1">
                <a:solidFill>
                  <a:srgbClr val="1D1D1F"/>
                </a:solidFill>
                <a:latin typeface="MiSans"/>
                <a:ea typeface="MiSans"/>
              </a:rPr>
              <a:t>站隊押注</a:t>
            </a:r>
            <a:endParaRPr lang="en-US" sz="1530" noProof="1"/>
          </a:p>
        </p:txBody>
      </p:sp>
      <p:sp>
        <p:nvSpPr>
          <p:cNvPr id="25" name="gstep2-desc"/>
          <p:cNvSpPr txBox="1"/>
          <p:nvPr/>
        </p:nvSpPr>
        <p:spPr>
          <a:xfrm>
            <a:off x="3886200" y="6235700"/>
            <a:ext cx="16383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270" noProof="1">
                <a:solidFill>
                  <a:srgbClr val="6E6E73"/>
                </a:solidFill>
                <a:latin typeface="MiSans"/>
                <a:ea typeface="MiSans"/>
              </a:rPr>
              <a:t>「你認為 AI 分身最終支持 A 還是 B？」</a:t>
            </a:r>
            <a:endParaRPr lang="en-US" sz="1270" noProof="1"/>
          </a:p>
        </p:txBody>
      </p:sp>
      <p:sp>
        <p:nvSpPr>
          <p:cNvPr id="26" name="garrow2"/>
          <p:cNvSpPr txBox="1"/>
          <p:nvPr/>
        </p:nvSpPr>
        <p:spPr>
          <a:xfrm>
            <a:off x="5791200" y="5486400"/>
            <a:ext cx="215900" cy="1346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30" noProof="1" b="1">
                <a:solidFill>
                  <a:srgbClr val="0071E3"/>
                </a:solidFill>
                <a:latin typeface="MiSans"/>
                <a:ea typeface="MiSans"/>
              </a:rPr>
              <a:t>→</a:t>
            </a:r>
            <a:endParaRPr lang="en-US" sz="1730" noProof="1"/>
          </a:p>
        </p:txBody>
      </p:sp>
      <p:sp>
        <p:nvSpPr>
          <p:cNvPr id="27" name="gstep3"/>
          <p:cNvSpPr/>
          <p:nvPr/>
        </p:nvSpPr>
        <p:spPr>
          <a:xfrm>
            <a:off x="6146800" y="5486400"/>
            <a:ext cx="1943100" cy="1346200"/>
          </a:xfrm>
          <a:prstGeom prst="roundRect">
            <a:avLst>
              <a:gd name="adj" fmla="val 132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28" name="gstep3-num"/>
          <p:cNvSpPr txBox="1"/>
          <p:nvPr/>
        </p:nvSpPr>
        <p:spPr>
          <a:xfrm>
            <a:off x="6299200" y="5613400"/>
            <a:ext cx="16383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730" noProof="1" b="1">
                <a:solidFill>
                  <a:srgbClr val="0071E3"/>
                </a:solidFill>
                <a:latin typeface="MiSans"/>
                <a:ea typeface="MiSans"/>
              </a:rPr>
              <a:t>3</a:t>
            </a:r>
            <a:endParaRPr lang="en-US" sz="1730" noProof="1"/>
          </a:p>
        </p:txBody>
      </p:sp>
      <p:sp>
        <p:nvSpPr>
          <p:cNvPr id="29" name="gstep3-title"/>
          <p:cNvSpPr txBox="1"/>
          <p:nvPr/>
        </p:nvSpPr>
        <p:spPr>
          <a:xfrm>
            <a:off x="6299200" y="5905500"/>
            <a:ext cx="16383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530" noProof="1" b="1">
                <a:solidFill>
                  <a:srgbClr val="1D1D1F"/>
                </a:solidFill>
                <a:latin typeface="MiSans"/>
                <a:ea typeface="MiSans"/>
              </a:rPr>
              <a:t>學完揭曉</a:t>
            </a:r>
            <a:endParaRPr lang="en-US" sz="1530" noProof="1"/>
          </a:p>
        </p:txBody>
      </p:sp>
      <p:sp>
        <p:nvSpPr>
          <p:cNvPr id="30" name="gstep3-desc"/>
          <p:cNvSpPr txBox="1"/>
          <p:nvPr/>
        </p:nvSpPr>
        <p:spPr>
          <a:xfrm>
            <a:off x="6299200" y="6235700"/>
            <a:ext cx="16383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270" noProof="1">
                <a:solidFill>
                  <a:srgbClr val="6E6E73"/>
                </a:solidFill>
                <a:latin typeface="MiSans"/>
                <a:ea typeface="MiSans"/>
              </a:rPr>
              <a:t>微課後公布實際辯論結果，答對得少量 XP</a:t>
            </a:r>
            <a:endParaRPr lang="en-US" sz="1270" noProof="1"/>
          </a:p>
        </p:txBody>
      </p:sp>
      <p:sp>
        <p:nvSpPr>
          <p:cNvPr id="31" name="game-note"/>
          <p:cNvSpPr txBox="1"/>
          <p:nvPr/>
        </p:nvSpPr>
        <p:spPr>
          <a:xfrm>
            <a:off x="1320800" y="6985000"/>
            <a:ext cx="67564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 b="1">
                <a:solidFill>
                  <a:srgbClr val="6E6E73"/>
                </a:solidFill>
                <a:latin typeface="MiSans"/>
                <a:ea typeface="MiSans"/>
              </a:rPr>
              <a:t>優點：</a:t>
            </a: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不引入新組件，直接打通「學習地圖」與「社區」；趣味性來自與 AI 思想的碰撞，而非低級視覺刺激。</a:t>
            </a:r>
            <a:endParaRPr lang="en-US" sz="1400" noProof="1"/>
          </a:p>
        </p:txBody>
      </p:sp>
      <p:sp>
        <p:nvSpPr>
          <p:cNvPr id="32" name="pet-card"/>
          <p:cNvSpPr/>
          <p:nvPr/>
        </p:nvSpPr>
        <p:spPr>
          <a:xfrm>
            <a:off x="8610600" y="2641600"/>
            <a:ext cx="6578600" cy="5283200"/>
          </a:xfrm>
          <a:prstGeom prst="roundRect">
            <a:avLst>
              <a:gd name="adj" fmla="val 43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33" name="pet-tag"/>
          <p:cNvSpPr txBox="1"/>
          <p:nvPr/>
        </p:nvSpPr>
        <p:spPr>
          <a:xfrm>
            <a:off x="8890000" y="2870200"/>
            <a:ext cx="60198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30" noProof="1" b="1" spc="110" kern="0">
                <a:solidFill>
                  <a:srgbClr val="0071E3"/>
                </a:solidFill>
                <a:latin typeface="MiSans"/>
                <a:ea typeface="MiSans"/>
              </a:rPr>
              <a:t>靈寵系統 · 每日留存鉤子</a:t>
            </a:r>
            <a:endParaRPr lang="en-US" sz="1330" noProof="1"/>
          </a:p>
        </p:txBody>
      </p:sp>
      <p:sp>
        <p:nvSpPr>
          <p:cNvPr id="34" name="pet-title"/>
          <p:cNvSpPr txBox="1"/>
          <p:nvPr/>
        </p:nvSpPr>
        <p:spPr>
          <a:xfrm>
            <a:off x="8890000" y="3213100"/>
            <a:ext cx="60198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1D1D1F"/>
                </a:solidFill>
                <a:latin typeface="MiSans"/>
                <a:ea typeface="MiSans"/>
              </a:rPr>
              <a:t>每日上線，靈寵才會存活</a:t>
            </a:r>
            <a:endParaRPr lang="en-US" sz="2000" noProof="1"/>
          </a:p>
        </p:txBody>
      </p:sp>
      <p:sp>
        <p:nvSpPr>
          <p:cNvPr id="35" name="pet-body"/>
          <p:cNvSpPr/>
          <p:nvPr/>
        </p:nvSpPr>
        <p:spPr>
          <a:xfrm>
            <a:off x="8890000" y="3784600"/>
            <a:ext cx="1473200" cy="1473200"/>
          </a:xfrm>
          <a:prstGeom prst="ellipse">
            <a:avLst/>
          </a:prstGeom>
          <a:solidFill>
            <a:srgbClr val="E8F1FB"/>
          </a:solidFill>
          <a:ln>
            <a:noFill/>
          </a:ln>
        </p:spPr>
      </p:sp>
      <p:sp>
        <p:nvSpPr>
          <p:cNvPr id="36" name="pet-eye-l"/>
          <p:cNvSpPr/>
          <p:nvPr/>
        </p:nvSpPr>
        <p:spPr>
          <a:xfrm>
            <a:off x="9296400" y="4318000"/>
            <a:ext cx="127000" cy="127000"/>
          </a:xfrm>
          <a:prstGeom prst="ellipse">
            <a:avLst/>
          </a:prstGeom>
          <a:solidFill>
            <a:srgbClr val="1D1D1F"/>
          </a:solidFill>
          <a:ln>
            <a:noFill/>
          </a:ln>
        </p:spPr>
      </p:sp>
      <p:sp>
        <p:nvSpPr>
          <p:cNvPr id="37" name="pet-eye-r"/>
          <p:cNvSpPr/>
          <p:nvPr/>
        </p:nvSpPr>
        <p:spPr>
          <a:xfrm>
            <a:off x="9829800" y="4318000"/>
            <a:ext cx="127000" cy="127000"/>
          </a:xfrm>
          <a:prstGeom prst="ellipse">
            <a:avLst/>
          </a:prstGeom>
          <a:solidFill>
            <a:srgbClr val="1D1D1F"/>
          </a:solidFill>
          <a:ln>
            <a:noFill/>
          </a:ln>
        </p:spPr>
      </p:sp>
      <p:sp>
        <p:nvSpPr>
          <p:cNvPr id="38" name="pet-smile"/>
          <p:cNvSpPr/>
          <p:nvPr>
            <p:extLst>
              <p:ext uri="{F5677B7D-0D2A-4D9B-9A5C-6D8D7D0E5A5D}">
                <pptd:line encoding="base64url">eyJ2aWV3Qm94IjpbMjgsMTRdLCJwb2ludHMiOiIwLDEgMTQsMTMgMjgsMSIsImN1cnZlIjoic21vb3RoIn0</pptd:line>
              </p:ext>
            </p:extLst>
          </p:nvPr>
        </p:nvSpPr>
        <p:spPr>
          <a:xfrm>
            <a:off x="9448800" y="4648200"/>
            <a:ext cx="355600" cy="177800"/>
          </a:xfrm>
          <a:custGeom>
            <a:avLst/>
            <a:gdLst/>
            <a:ahLst/>
            <a:cxnLst/>
            <a:rect l="l" t="t" r="r" b="b"/>
            <a:pathLst>
              <a:path w="28" h="14">
                <a:moveTo>
                  <a:pt x="0" y="1"/>
                </a:moveTo>
                <a:quadBezTo>
                  <a:pt x="14" y="13"/>
                  <a:pt x="28" y="1"/>
                </a:quadBezTo>
              </a:path>
            </a:pathLst>
          </a:custGeom>
          <a:noFill/>
          <a:ln w="38100" cap="rnd">
            <a:solidFill>
              <a:srgbClr val="0071E3"/>
            </a:solidFill>
            <a:round/>
          </a:ln>
        </p:spPr>
      </p:sp>
      <p:sp>
        <p:nvSpPr>
          <p:cNvPr id="39" name="pet-p1"/>
          <p:cNvSpPr txBox="1"/>
          <p:nvPr/>
        </p:nvSpPr>
        <p:spPr>
          <a:xfrm>
            <a:off x="10591800" y="3898900"/>
            <a:ext cx="43180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 b="1">
                <a:solidFill>
                  <a:srgbClr val="6E6E73"/>
                </a:solidFill>
                <a:latin typeface="MiSans"/>
                <a:ea typeface="MiSans"/>
              </a:rPr>
              <a:t>上線餵養：</a:t>
            </a: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每日登入 KnowFeed 完成學習，維持靈寵存活與心情。</a:t>
            </a:r>
            <a:endParaRPr lang="en-US" sz="1400" noProof="1"/>
          </a:p>
        </p:txBody>
      </p:sp>
      <p:sp>
        <p:nvSpPr>
          <p:cNvPr id="40" name="pet-p2"/>
          <p:cNvSpPr txBox="1"/>
          <p:nvPr/>
        </p:nvSpPr>
        <p:spPr>
          <a:xfrm>
            <a:off x="10591800" y="4572000"/>
            <a:ext cx="43180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 b="1">
                <a:solidFill>
                  <a:srgbClr val="6E6E73"/>
                </a:solidFill>
                <a:latin typeface="MiSans"/>
                <a:ea typeface="MiSans"/>
              </a:rPr>
              <a:t>XP 消費：</a:t>
            </a:r>
            <a:r>
              <a:rPr lang="en-US" sz="1400" noProof="1">
                <a:solidFill>
                  <a:srgbClr val="6E6E73"/>
                </a:solidFill>
                <a:latin typeface="MiSans"/>
                <a:ea typeface="MiSans"/>
              </a:rPr>
              <a:t>問答獲得的 XP 可購買食物與裝扮，形成「學習 → 獎勵 → 陪伴」循環。</a:t>
            </a:r>
            <a:endParaRPr lang="en-US" sz="1400" noProof="1"/>
          </a:p>
        </p:txBody>
      </p:sp>
      <p:sp>
        <p:nvSpPr>
          <p:cNvPr id="41" name="pet-divider"/>
          <p:cNvSpPr/>
          <p:nvPr/>
        </p:nvSpPr>
        <p:spPr>
          <a:xfrm>
            <a:off x="8890000" y="5435600"/>
            <a:ext cx="6019800" cy="12700"/>
          </a:xfrm>
          <a:prstGeom prst="rect">
            <a:avLst/>
          </a:prstGeom>
          <a:solidFill>
            <a:srgbClr val="E6E6E9"/>
          </a:solidFill>
          <a:ln>
            <a:noFill/>
          </a:ln>
        </p:spPr>
      </p:sp>
      <p:sp>
        <p:nvSpPr>
          <p:cNvPr id="42" name="petc1-title"/>
          <p:cNvSpPr txBox="1"/>
          <p:nvPr/>
        </p:nvSpPr>
        <p:spPr>
          <a:xfrm>
            <a:off x="8890000" y="5600700"/>
            <a:ext cx="19177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330" noProof="1" b="1" spc="110" kern="0">
                <a:solidFill>
                  <a:srgbClr val="0071E3"/>
                </a:solidFill>
                <a:latin typeface="MiSans"/>
                <a:ea typeface="MiSans"/>
              </a:rPr>
              <a:t>每日登入</a:t>
            </a:r>
            <a:endParaRPr lang="en-US" sz="1330" noProof="1"/>
          </a:p>
        </p:txBody>
      </p:sp>
      <p:sp>
        <p:nvSpPr>
          <p:cNvPr id="43" name="petc1-desc"/>
          <p:cNvSpPr txBox="1"/>
          <p:nvPr/>
        </p:nvSpPr>
        <p:spPr>
          <a:xfrm>
            <a:off x="8890000" y="5892800"/>
            <a:ext cx="19177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6E6E73"/>
                </a:solidFill>
                <a:latin typeface="MiSans"/>
                <a:ea typeface="MiSans"/>
              </a:rPr>
              <a:t>保證靈寵存活</a:t>
            </a:r>
            <a:endParaRPr lang="en-US" sz="1200" noProof="1"/>
          </a:p>
        </p:txBody>
      </p:sp>
      <p:sp>
        <p:nvSpPr>
          <p:cNvPr id="44" name="petc-div1"/>
          <p:cNvSpPr/>
          <p:nvPr/>
        </p:nvSpPr>
        <p:spPr>
          <a:xfrm>
            <a:off x="10947400" y="5600700"/>
            <a:ext cx="12700" cy="533400"/>
          </a:xfrm>
          <a:prstGeom prst="rect">
            <a:avLst/>
          </a:prstGeom>
          <a:solidFill>
            <a:srgbClr val="E6E6E9"/>
          </a:solidFill>
          <a:ln>
            <a:noFill/>
          </a:ln>
        </p:spPr>
      </p:sp>
      <p:sp>
        <p:nvSpPr>
          <p:cNvPr id="45" name="petc2-title"/>
          <p:cNvSpPr txBox="1"/>
          <p:nvPr/>
        </p:nvSpPr>
        <p:spPr>
          <a:xfrm>
            <a:off x="10947400" y="5600700"/>
            <a:ext cx="19177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330" noProof="1" b="1" spc="110" kern="0">
                <a:solidFill>
                  <a:srgbClr val="0071E3"/>
                </a:solidFill>
                <a:latin typeface="MiSans"/>
                <a:ea typeface="MiSans"/>
              </a:rPr>
              <a:t>答題 XP</a:t>
            </a:r>
            <a:endParaRPr lang="en-US" sz="1330" noProof="1"/>
          </a:p>
        </p:txBody>
      </p:sp>
      <p:sp>
        <p:nvSpPr>
          <p:cNvPr id="46" name="petc2-desc"/>
          <p:cNvSpPr txBox="1"/>
          <p:nvPr/>
        </p:nvSpPr>
        <p:spPr>
          <a:xfrm>
            <a:off x="10947400" y="5892800"/>
            <a:ext cx="19177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6E6E73"/>
                </a:solidFill>
                <a:latin typeface="MiSans"/>
                <a:ea typeface="MiSans"/>
              </a:rPr>
              <a:t>押注正確即獎勵</a:t>
            </a:r>
            <a:endParaRPr lang="en-US" sz="1200" noProof="1"/>
          </a:p>
        </p:txBody>
      </p:sp>
      <p:sp>
        <p:nvSpPr>
          <p:cNvPr id="47" name="petc-div2"/>
          <p:cNvSpPr/>
          <p:nvPr/>
        </p:nvSpPr>
        <p:spPr>
          <a:xfrm>
            <a:off x="12992100" y="5600700"/>
            <a:ext cx="12700" cy="533400"/>
          </a:xfrm>
          <a:prstGeom prst="rect">
            <a:avLst/>
          </a:prstGeom>
          <a:solidFill>
            <a:srgbClr val="E6E6E9"/>
          </a:solidFill>
          <a:ln>
            <a:noFill/>
          </a:ln>
        </p:spPr>
      </p:sp>
      <p:sp>
        <p:nvSpPr>
          <p:cNvPr id="48" name="petc3-title"/>
          <p:cNvSpPr txBox="1"/>
          <p:nvPr/>
        </p:nvSpPr>
        <p:spPr>
          <a:xfrm>
            <a:off x="12992100" y="5600700"/>
            <a:ext cx="19177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330" noProof="1" b="1" spc="110" kern="0">
                <a:solidFill>
                  <a:srgbClr val="0071E3"/>
                </a:solidFill>
                <a:latin typeface="MiSans"/>
                <a:ea typeface="MiSans"/>
              </a:rPr>
              <a:t>食物裝扮</a:t>
            </a:r>
            <a:endParaRPr lang="en-US" sz="1330" noProof="1"/>
          </a:p>
        </p:txBody>
      </p:sp>
      <p:sp>
        <p:nvSpPr>
          <p:cNvPr id="49" name="petc3-desc"/>
          <p:cNvSpPr txBox="1"/>
          <p:nvPr/>
        </p:nvSpPr>
        <p:spPr>
          <a:xfrm>
            <a:off x="12992100" y="5892800"/>
            <a:ext cx="19177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6E6E73"/>
                </a:solidFill>
                <a:latin typeface="MiSans"/>
                <a:ea typeface="MiSans"/>
              </a:rPr>
              <a:t>XP 轉化陪伴感</a:t>
            </a:r>
            <a:endParaRPr lang="en-US" sz="1200" noProof="1"/>
          </a:p>
        </p:txBody>
      </p:sp>
      <p:sp>
        <p:nvSpPr>
          <p:cNvPr id="50" name="bottom-slogan"/>
          <p:cNvSpPr txBox="1"/>
          <p:nvPr/>
        </p:nvSpPr>
        <p:spPr>
          <a:xfrm>
            <a:off x="1066800" y="8128000"/>
            <a:ext cx="14122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670" noProof="1" b="1">
                <a:solidFill>
                  <a:srgbClr val="1D1D1F"/>
                </a:solidFill>
                <a:latin typeface="MiSans"/>
                <a:ea typeface="MiSans"/>
              </a:rPr>
              <a:t>留存不是提醒出來的，而是「想知道結果、想照顧它」——</a:t>
            </a:r>
            <a:r>
              <a:rPr lang="en-US" sz="1670" noProof="1" b="1">
                <a:solidFill>
                  <a:srgbClr val="0071E3"/>
                </a:solidFill>
                <a:latin typeface="MiSans"/>
                <a:ea typeface="MiSans"/>
              </a:rPr>
              <a:t>明天再來一次</a:t>
            </a:r>
            <a:r>
              <a:rPr lang="en-US" sz="1670" noProof="1" b="1">
                <a:solidFill>
                  <a:srgbClr val="1D1D1F"/>
                </a:solidFill>
                <a:latin typeface="MiSans"/>
                <a:ea typeface="MiSans"/>
              </a:rPr>
              <a:t>。</a:t>
            </a:r>
            <a:endParaRPr lang="en-US" sz="1670" noProof="1"/>
          </a:p>
        </p:txBody>
      </p:sp>
      <p:sp>
        <p:nvSpPr>
          <p:cNvPr id="51" name="footer-left"/>
          <p:cNvSpPr txBox="1"/>
          <p:nvPr/>
        </p:nvSpPr>
        <p:spPr>
          <a:xfrm>
            <a:off x="1066800" y="8597900"/>
            <a:ext cx="508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spc="190" kern="0">
                <a:solidFill>
                  <a:srgbClr val="6E6E73"/>
                </a:solidFill>
                <a:latin typeface="MiSans"/>
                <a:ea typeface="MiSans"/>
              </a:rPr>
              <a:t>KNOWFEED PITCH DECK</a:t>
            </a:r>
            <a:endParaRPr lang="en-US" sz="1200" noProof="1"/>
          </a:p>
        </p:txBody>
      </p:sp>
      <p:sp>
        <p:nvSpPr>
          <p:cNvPr id="52" name="footer-right"/>
          <p:cNvSpPr txBox="1"/>
          <p:nvPr/>
        </p:nvSpPr>
        <p:spPr>
          <a:xfrm>
            <a:off x="13919200" y="8597900"/>
            <a:ext cx="127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200" noProof="1" b="1" spc="190" kern="0">
                <a:solidFill>
                  <a:srgbClr val="1D1D1F"/>
                </a:solidFill>
                <a:latin typeface="MiSans"/>
                <a:ea typeface="MiSans"/>
              </a:rPr>
              <a:t>10 / 12</a:t>
            </a:r>
            <a:endParaRPr lang="en-US" sz="12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tick"/>
          <p:cNvSpPr/>
          <p:nvPr/>
        </p:nvSpPr>
        <p:spPr>
          <a:xfrm>
            <a:off x="1066800" y="711200"/>
            <a:ext cx="355600" cy="381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</p:sp>
      <p:sp>
        <p:nvSpPr>
          <p:cNvPr id="3" name="header-title"/>
          <p:cNvSpPr txBox="1"/>
          <p:nvPr/>
        </p:nvSpPr>
        <p:spPr>
          <a:xfrm>
            <a:off x="1066800" y="901700"/>
            <a:ext cx="1143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 spc="-60" kern="0">
                <a:solidFill>
                  <a:srgbClr val="1D1D1F"/>
                </a:solidFill>
                <a:latin typeface="MiSans"/>
                <a:ea typeface="MiSans"/>
              </a:rPr>
              <a:t>團隊與致謝</a:t>
            </a:r>
            <a:endParaRPr lang="en-US" sz="4000" noProof="1"/>
          </a:p>
        </p:txBody>
      </p:sp>
      <p:sp>
        <p:nvSpPr>
          <p:cNvPr id="4" name="header-tag"/>
          <p:cNvSpPr txBox="1"/>
          <p:nvPr/>
        </p:nvSpPr>
        <p:spPr>
          <a:xfrm>
            <a:off x="11379200" y="11811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spc="280" kern="0">
                <a:solidFill>
                  <a:srgbClr val="6E6E73"/>
                </a:solidFill>
                <a:latin typeface="MiSans"/>
                <a:ea typeface="MiSans"/>
              </a:rPr>
              <a:t>10 / TEAM</a:t>
            </a:r>
            <a:endParaRPr lang="en-US" sz="1400" noProof="1"/>
          </a:p>
        </p:txBody>
      </p:sp>
      <p:sp>
        <p:nvSpPr>
          <p:cNvPr id="5" name="header-line"/>
          <p:cNvSpPr/>
          <p:nvPr/>
        </p:nvSpPr>
        <p:spPr>
          <a:xfrm>
            <a:off x="1066800" y="1727200"/>
            <a:ext cx="14122400" cy="12700"/>
          </a:xfrm>
          <a:prstGeom prst="rect">
            <a:avLst/>
          </a:prstGeom>
          <a:solidFill>
            <a:srgbClr val="E6E6E9"/>
          </a:solidFill>
          <a:ln>
            <a:noFill/>
          </a:ln>
        </p:spPr>
      </p:sp>
      <p:sp>
        <p:nvSpPr>
          <p:cNvPr id="6" name="team-card"/>
          <p:cNvSpPr/>
          <p:nvPr/>
        </p:nvSpPr>
        <p:spPr>
          <a:xfrm>
            <a:off x="1066800" y="2032000"/>
            <a:ext cx="6921500" cy="2387600"/>
          </a:xfrm>
          <a:prstGeom prst="roundRect">
            <a:avLst>
              <a:gd name="adj" fmla="val 96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7" name="team-tag"/>
          <p:cNvSpPr txBox="1"/>
          <p:nvPr/>
        </p:nvSpPr>
        <p:spPr>
          <a:xfrm>
            <a:off x="1422400" y="2336800"/>
            <a:ext cx="62103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30" noProof="1" b="1" spc="110" kern="0">
                <a:solidFill>
                  <a:srgbClr val="0071E3"/>
                </a:solidFill>
                <a:latin typeface="MiSans"/>
                <a:ea typeface="MiSans"/>
              </a:rPr>
              <a:t>KNOWFEED 開發團隊</a:t>
            </a:r>
            <a:endParaRPr lang="en-US" sz="1330" noProof="1"/>
          </a:p>
        </p:txBody>
      </p:sp>
      <p:sp>
        <p:nvSpPr>
          <p:cNvPr id="8" name="member1-name"/>
          <p:cNvSpPr txBox="1"/>
          <p:nvPr/>
        </p:nvSpPr>
        <p:spPr>
          <a:xfrm>
            <a:off x="1422400" y="2755900"/>
            <a:ext cx="27432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270" noProof="1" b="1">
                <a:solidFill>
                  <a:srgbClr val="1D1D1F"/>
                </a:solidFill>
                <a:latin typeface="MiSans"/>
                <a:ea typeface="MiSans"/>
              </a:rPr>
              <a:t>Xie Jia Chen</a:t>
            </a:r>
            <a:endParaRPr lang="en-US" sz="2270" noProof="1"/>
          </a:p>
        </p:txBody>
      </p:sp>
      <p:sp>
        <p:nvSpPr>
          <p:cNvPr id="9" name="member1-role"/>
          <p:cNvSpPr txBox="1"/>
          <p:nvPr/>
        </p:nvSpPr>
        <p:spPr>
          <a:xfrm>
            <a:off x="1422400" y="3251200"/>
            <a:ext cx="2743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 b="1">
                <a:solidFill>
                  <a:srgbClr val="1D1D1F"/>
                </a:solidFill>
                <a:latin typeface="MiSans"/>
                <a:ea typeface="MiSans"/>
              </a:rPr>
              <a:t>項目負責人 / 全棧開發</a:t>
            </a:r>
            <a:endParaRPr lang="en-US" sz="1400" noProof="1"/>
          </a:p>
        </p:txBody>
      </p:sp>
      <p:sp>
        <p:nvSpPr>
          <p:cNvPr id="10" name="team-divider"/>
          <p:cNvSpPr/>
          <p:nvPr/>
        </p:nvSpPr>
        <p:spPr>
          <a:xfrm>
            <a:off x="4521200" y="2755900"/>
            <a:ext cx="12700" cy="774700"/>
          </a:xfrm>
          <a:prstGeom prst="rect">
            <a:avLst/>
          </a:prstGeom>
          <a:solidFill>
            <a:srgbClr val="E6E6E9"/>
          </a:solidFill>
          <a:ln>
            <a:noFill/>
          </a:ln>
        </p:spPr>
      </p:sp>
      <p:sp>
        <p:nvSpPr>
          <p:cNvPr id="11" name="member2-name"/>
          <p:cNvSpPr txBox="1"/>
          <p:nvPr/>
        </p:nvSpPr>
        <p:spPr>
          <a:xfrm>
            <a:off x="4889500" y="2755900"/>
            <a:ext cx="27432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270" noProof="1" b="1">
                <a:solidFill>
                  <a:srgbClr val="1D1D1F"/>
                </a:solidFill>
                <a:latin typeface="MiSans"/>
                <a:ea typeface="MiSans"/>
              </a:rPr>
              <a:t>Hau Sze Hoi Steven</a:t>
            </a:r>
            <a:endParaRPr lang="en-US" sz="2270" noProof="1"/>
          </a:p>
        </p:txBody>
      </p:sp>
      <p:sp>
        <p:nvSpPr>
          <p:cNvPr id="12" name="member2-role"/>
          <p:cNvSpPr txBox="1"/>
          <p:nvPr/>
        </p:nvSpPr>
        <p:spPr>
          <a:xfrm>
            <a:off x="4889500" y="3251200"/>
            <a:ext cx="2743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 b="1">
                <a:solidFill>
                  <a:srgbClr val="1D1D1F"/>
                </a:solidFill>
                <a:latin typeface="MiSans"/>
                <a:ea typeface="MiSans"/>
              </a:rPr>
              <a:t>產品設計 / 市場運營</a:t>
            </a:r>
            <a:endParaRPr lang="en-US" sz="1400" noProof="1"/>
          </a:p>
        </p:txBody>
      </p:sp>
      <p:sp>
        <p:nvSpPr>
          <p:cNvPr id="13" name="stats-card"/>
          <p:cNvSpPr/>
          <p:nvPr/>
        </p:nvSpPr>
        <p:spPr>
          <a:xfrm>
            <a:off x="8267700" y="2032000"/>
            <a:ext cx="6921500" cy="2387600"/>
          </a:xfrm>
          <a:prstGeom prst="roundRect">
            <a:avLst>
              <a:gd name="adj" fmla="val 9600"/>
            </a:avLst>
          </a:prstGeom>
          <a:solidFill>
            <a:srgbClr val="F5F5F7"/>
          </a:solidFill>
          <a:ln>
            <a:noFill/>
          </a:ln>
        </p:spPr>
      </p:sp>
      <p:sp>
        <p:nvSpPr>
          <p:cNvPr id="14" name="stats-tag"/>
          <p:cNvSpPr txBox="1"/>
          <p:nvPr/>
        </p:nvSpPr>
        <p:spPr>
          <a:xfrm>
            <a:off x="8623300" y="2336800"/>
            <a:ext cx="62103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30" noProof="1" b="1" spc="110" kern="0">
                <a:solidFill>
                  <a:srgbClr val="0071E3"/>
                </a:solidFill>
                <a:latin typeface="MiSans"/>
                <a:ea typeface="MiSans"/>
              </a:rPr>
              <a:t>項目數字速覽</a:t>
            </a:r>
            <a:endParaRPr lang="en-US" sz="1330" noProof="1"/>
          </a:p>
        </p:txBody>
      </p:sp>
      <p:sp>
        <p:nvSpPr>
          <p:cNvPr id="15" name="stat1-num"/>
          <p:cNvSpPr txBox="1"/>
          <p:nvPr/>
        </p:nvSpPr>
        <p:spPr>
          <a:xfrm>
            <a:off x="8623300" y="2857500"/>
            <a:ext cx="13843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 spc="-120" kern="0">
                <a:solidFill>
                  <a:srgbClr val="1D1D1F"/>
                </a:solidFill>
                <a:latin typeface="MiSans"/>
                <a:ea typeface="MiSans"/>
              </a:rPr>
              <a:t>3</a:t>
            </a:r>
            <a:endParaRPr lang="en-US" sz="4000" noProof="1"/>
          </a:p>
        </p:txBody>
      </p:sp>
      <p:sp>
        <p:nvSpPr>
          <p:cNvPr id="16" name="stat1-label"/>
          <p:cNvSpPr txBox="1"/>
          <p:nvPr/>
        </p:nvSpPr>
        <p:spPr>
          <a:xfrm>
            <a:off x="8623300" y="3644900"/>
            <a:ext cx="1384300" cy="698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270" noProof="1" b="1">
                <a:solidFill>
                  <a:srgbClr val="1D1D1F"/>
                </a:solidFill>
                <a:latin typeface="MiSans"/>
                <a:ea typeface="MiSans"/>
              </a:rPr>
              <a:t>產品支柱</a:t>
            </a:r>
            <a:endParaRPr lang="en-US" sz="1270" noProof="1"/>
          </a:p>
          <a:p>
            <a:pPr algn="l">
              <a:lnSpc>
                <a:spcPct val="145000"/>
              </a:lnSpc>
            </a:pPr>
            <a:r>
              <a:rPr lang="en-US" sz="1130" noProof="1" b="1">
                <a:solidFill>
                  <a:srgbClr val="6E6E73"/>
                </a:solidFill>
                <a:latin typeface="MiSans"/>
                <a:ea typeface="MiSans"/>
              </a:rPr>
              <a:t>路徑 / 費曼閉環 / 分身社區</a:t>
            </a:r>
            <a:endParaRPr lang="en-US" sz="1270" noProof="1"/>
          </a:p>
        </p:txBody>
      </p:sp>
      <p:sp>
        <p:nvSpPr>
          <p:cNvPr id="17" name="stat2-num"/>
          <p:cNvSpPr txBox="1"/>
          <p:nvPr/>
        </p:nvSpPr>
        <p:spPr>
          <a:xfrm>
            <a:off x="10236200" y="2857500"/>
            <a:ext cx="13843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 spc="-120" kern="0">
                <a:solidFill>
                  <a:srgbClr val="1D1D1F"/>
                </a:solidFill>
                <a:latin typeface="MiSans"/>
                <a:ea typeface="MiSans"/>
              </a:rPr>
              <a:t>470</a:t>
            </a:r>
            <a:r>
              <a:rPr lang="en-US" sz="1870" noProof="1" b="1" spc="-120" kern="0">
                <a:solidFill>
                  <a:srgbClr val="6E6E73"/>
                </a:solidFill>
                <a:latin typeface="MiSans"/>
                <a:ea typeface="MiSans"/>
              </a:rPr>
              <a:t>+</a:t>
            </a:r>
            <a:endParaRPr lang="en-US" sz="1600" noProof="1"/>
          </a:p>
        </p:txBody>
      </p:sp>
      <p:sp>
        <p:nvSpPr>
          <p:cNvPr id="18" name="stat2-label"/>
          <p:cNvSpPr txBox="1"/>
          <p:nvPr/>
        </p:nvSpPr>
        <p:spPr>
          <a:xfrm>
            <a:off x="10236200" y="3644900"/>
            <a:ext cx="1384300" cy="698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270" noProof="1" b="1">
                <a:solidFill>
                  <a:srgbClr val="1D1D1F"/>
                </a:solidFill>
                <a:latin typeface="MiSans"/>
                <a:ea typeface="MiSans"/>
              </a:rPr>
              <a:t>自動化測試</a:t>
            </a:r>
            <a:endParaRPr lang="en-US" sz="1270" noProof="1"/>
          </a:p>
          <a:p>
            <a:pPr algn="l">
              <a:lnSpc>
                <a:spcPct val="145000"/>
              </a:lnSpc>
            </a:pPr>
            <a:r>
              <a:rPr lang="en-US" sz="1130" noProof="1" b="1">
                <a:solidFill>
                  <a:srgbClr val="6E6E73"/>
                </a:solidFill>
                <a:latin typeface="MiSans"/>
                <a:ea typeface="MiSans"/>
              </a:rPr>
              <a:t>前端 235 + 後端 237</a:t>
            </a:r>
            <a:endParaRPr lang="en-US" sz="1270" noProof="1"/>
          </a:p>
        </p:txBody>
      </p:sp>
      <p:sp>
        <p:nvSpPr>
          <p:cNvPr id="19" name="stat3-num"/>
          <p:cNvSpPr txBox="1"/>
          <p:nvPr/>
        </p:nvSpPr>
        <p:spPr>
          <a:xfrm>
            <a:off x="11849100" y="2857500"/>
            <a:ext cx="13843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 spc="-120" kern="0">
                <a:solidFill>
                  <a:srgbClr val="1D1D1F"/>
                </a:solidFill>
                <a:latin typeface="MiSans"/>
                <a:ea typeface="MiSans"/>
              </a:rPr>
              <a:t>6</a:t>
            </a:r>
            <a:r>
              <a:rPr lang="en-US" sz="1870" noProof="1" b="1" spc="-120" kern="0">
                <a:solidFill>
                  <a:srgbClr val="6E6E73"/>
                </a:solidFill>
                <a:latin typeface="MiSans"/>
                <a:ea typeface="MiSans"/>
              </a:rPr>
              <a:t>+</a:t>
            </a:r>
            <a:endParaRPr lang="en-US" sz="1600" noProof="1"/>
          </a:p>
        </p:txBody>
      </p:sp>
      <p:sp>
        <p:nvSpPr>
          <p:cNvPr id="20" name="stat3-label"/>
          <p:cNvSpPr txBox="1"/>
          <p:nvPr/>
        </p:nvSpPr>
        <p:spPr>
          <a:xfrm>
            <a:off x="11849100" y="3644900"/>
            <a:ext cx="1384300" cy="698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270" noProof="1" b="1">
                <a:solidFill>
                  <a:srgbClr val="1D1D1F"/>
                </a:solidFill>
                <a:latin typeface="MiSans"/>
                <a:ea typeface="MiSans"/>
              </a:rPr>
              <a:t>已驗證學科領域</a:t>
            </a:r>
            <a:endParaRPr lang="en-US" sz="1270" noProof="1"/>
          </a:p>
          <a:p>
            <a:pPr algn="l">
              <a:lnSpc>
                <a:spcPct val="145000"/>
              </a:lnSpc>
            </a:pPr>
            <a:r>
              <a:rPr lang="en-US" sz="1130" noProof="1" b="1">
                <a:solidFill>
                  <a:srgbClr val="6E6E73"/>
                </a:solidFill>
                <a:latin typeface="MiSans"/>
                <a:ea typeface="MiSans"/>
              </a:rPr>
              <a:t>真實 LLM 端到端測試</a:t>
            </a:r>
            <a:endParaRPr lang="en-US" sz="1270" noProof="1"/>
          </a:p>
        </p:txBody>
      </p:sp>
      <p:sp>
        <p:nvSpPr>
          <p:cNvPr id="21" name="stat4-num"/>
          <p:cNvSpPr txBox="1"/>
          <p:nvPr/>
        </p:nvSpPr>
        <p:spPr>
          <a:xfrm>
            <a:off x="13449300" y="2857500"/>
            <a:ext cx="13843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 spc="-120" kern="0">
                <a:solidFill>
                  <a:srgbClr val="1D1D1F"/>
                </a:solidFill>
                <a:latin typeface="MiSans"/>
                <a:ea typeface="MiSans"/>
              </a:rPr>
              <a:t>2</a:t>
            </a:r>
            <a:endParaRPr lang="en-US" sz="4000" noProof="1"/>
          </a:p>
        </p:txBody>
      </p:sp>
      <p:sp>
        <p:nvSpPr>
          <p:cNvPr id="22" name="stat4-label"/>
          <p:cNvSpPr txBox="1"/>
          <p:nvPr/>
        </p:nvSpPr>
        <p:spPr>
          <a:xfrm>
            <a:off x="13449300" y="3644900"/>
            <a:ext cx="1384300" cy="698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270" noProof="1" b="1">
                <a:solidFill>
                  <a:srgbClr val="1D1D1F"/>
                </a:solidFill>
                <a:latin typeface="MiSans"/>
                <a:ea typeface="MiSans"/>
              </a:rPr>
              <a:t>質量測評體系</a:t>
            </a:r>
            <a:endParaRPr lang="en-US" sz="1270" noProof="1"/>
          </a:p>
          <a:p>
            <a:pPr algn="l">
              <a:lnSpc>
                <a:spcPct val="145000"/>
              </a:lnSpc>
            </a:pPr>
            <a:r>
              <a:rPr lang="en-US" sz="1130" noProof="1" b="1">
                <a:solidFill>
                  <a:srgbClr val="6E6E73"/>
                </a:solidFill>
                <a:latin typeface="MiSans"/>
                <a:ea typeface="MiSans"/>
              </a:rPr>
              <a:t>課程質量 + 社區引擎</a:t>
            </a:r>
            <a:endParaRPr lang="en-US" sz="1270" noProof="1"/>
          </a:p>
        </p:txBody>
      </p:sp>
      <p:sp>
        <p:nvSpPr>
          <p:cNvPr id="23" name="band-line-top"/>
          <p:cNvSpPr/>
          <p:nvPr/>
        </p:nvSpPr>
        <p:spPr>
          <a:xfrm>
            <a:off x="1066800" y="4699000"/>
            <a:ext cx="14122400" cy="12700"/>
          </a:xfrm>
          <a:prstGeom prst="rect">
            <a:avLst/>
          </a:prstGeom>
          <a:solidFill>
            <a:srgbClr val="E6E6E9"/>
          </a:solidFill>
          <a:ln>
            <a:noFill/>
          </a:ln>
        </p:spPr>
      </p:sp>
      <p:sp>
        <p:nvSpPr>
          <p:cNvPr id="24" name="band-line-bottom"/>
          <p:cNvSpPr/>
          <p:nvPr/>
        </p:nvSpPr>
        <p:spPr>
          <a:xfrm>
            <a:off x="1066800" y="7607300"/>
            <a:ext cx="14122400" cy="12700"/>
          </a:xfrm>
          <a:prstGeom prst="rect">
            <a:avLst/>
          </a:prstGeom>
          <a:solidFill>
            <a:srgbClr val="E6E6E9"/>
          </a:solidFill>
          <a:ln>
            <a:noFill/>
          </a:ln>
        </p:spPr>
      </p:sp>
      <p:sp>
        <p:nvSpPr>
          <p:cNvPr id="25" name="band-title"/>
          <p:cNvSpPr txBox="1"/>
          <p:nvPr/>
        </p:nvSpPr>
        <p:spPr>
          <a:xfrm>
            <a:off x="1066800" y="5232400"/>
            <a:ext cx="141224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4530" noProof="1" b="1" spc="-140" kern="0">
                <a:solidFill>
                  <a:srgbClr val="1D1D1F"/>
                </a:solidFill>
                <a:latin typeface="MiSans"/>
                <a:ea typeface="MiSans"/>
              </a:rPr>
              <a:t>KnowFeed</a:t>
            </a:r>
            <a:endParaRPr lang="en-US" sz="4530" noProof="1"/>
          </a:p>
        </p:txBody>
      </p:sp>
      <p:sp>
        <p:nvSpPr>
          <p:cNvPr id="26" name="band-slogan"/>
          <p:cNvSpPr txBox="1"/>
          <p:nvPr/>
        </p:nvSpPr>
        <p:spPr>
          <a:xfrm>
            <a:off x="1066800" y="6273800"/>
            <a:ext cx="14122400" cy="44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2400" noProof="1" b="1" spc="50" kern="0">
                <a:solidFill>
                  <a:srgbClr val="1D1D1F"/>
                </a:solidFill>
                <a:latin typeface="MiSans"/>
                <a:ea typeface="MiSans"/>
              </a:rPr>
              <a:t>讓每一次滑動，都成為一次學習。</a:t>
            </a:r>
            <a:endParaRPr lang="en-US" sz="2400" noProof="1"/>
          </a:p>
        </p:txBody>
      </p:sp>
      <p:sp>
        <p:nvSpPr>
          <p:cNvPr id="27" name="band-en"/>
          <p:cNvSpPr txBox="1"/>
          <p:nvPr/>
        </p:nvSpPr>
        <p:spPr>
          <a:xfrm>
            <a:off x="1066800" y="6819900"/>
            <a:ext cx="14122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400" noProof="1" b="1" spc="310" kern="0">
                <a:solidFill>
                  <a:srgbClr val="6E6E73"/>
                </a:solidFill>
                <a:latin typeface="MiSans"/>
                <a:ea typeface="MiSans"/>
              </a:rPr>
              <a:t>EVERY SCROLL IS A LESSON.</a:t>
            </a:r>
            <a:endParaRPr lang="en-US" sz="1400" noProof="1"/>
          </a:p>
        </p:txBody>
      </p:sp>
      <p:sp>
        <p:nvSpPr>
          <p:cNvPr id="28" name="hkict"/>
          <p:cNvSpPr txBox="1"/>
          <p:nvPr/>
        </p:nvSpPr>
        <p:spPr>
          <a:xfrm>
            <a:off x="1066800" y="7835900"/>
            <a:ext cx="14122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60000"/>
              </a:lnSpc>
            </a:pPr>
            <a:r>
              <a:rPr lang="en-US" sz="1270" noProof="1">
                <a:solidFill>
                  <a:srgbClr val="6E6E73"/>
                </a:solidFill>
                <a:latin typeface="MiSans"/>
                <a:ea typeface="MiSans"/>
              </a:rPr>
              <a:t>HKICT AWARDS 2026</a:t>
            </a:r>
            <a:endParaRPr lang="en-US" sz="1270" noProof="1"/>
          </a:p>
        </p:txBody>
      </p:sp>
      <p:sp>
        <p:nvSpPr>
          <p:cNvPr id="29" name="disclaimer"/>
          <p:cNvSpPr txBox="1"/>
          <p:nvPr/>
        </p:nvSpPr>
        <p:spPr>
          <a:xfrm>
            <a:off x="1066800" y="8178800"/>
            <a:ext cx="14122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60000"/>
              </a:lnSpc>
            </a:pPr>
            <a:r>
              <a:rPr lang="en-US" sz="1270" noProof="1">
                <a:solidFill>
                  <a:srgbClr val="6E6E73"/>
                </a:solidFill>
                <a:latin typeface="MiSans"/>
                <a:ea typeface="MiSans"/>
              </a:rPr>
              <a:t>本項目核心創新、設計和研發均源自香港本地資源；參賽者擁有本項目所述資訊及通訊科技產品 / 服務的知識產權及合法權益。</a:t>
            </a:r>
            <a:endParaRPr lang="en-US" sz="1270" noProof="1"/>
          </a:p>
        </p:txBody>
      </p:sp>
      <p:sp>
        <p:nvSpPr>
          <p:cNvPr id="30" name="footer-left"/>
          <p:cNvSpPr txBox="1"/>
          <p:nvPr/>
        </p:nvSpPr>
        <p:spPr>
          <a:xfrm>
            <a:off x="1066800" y="8597900"/>
            <a:ext cx="508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spc="190" kern="0">
                <a:solidFill>
                  <a:srgbClr val="6E6E73"/>
                </a:solidFill>
                <a:latin typeface="MiSans"/>
                <a:ea typeface="MiSans"/>
              </a:rPr>
              <a:t>KNOWFEED PITCH DECK</a:t>
            </a:r>
            <a:endParaRPr lang="en-US" sz="1200" noProof="1"/>
          </a:p>
        </p:txBody>
      </p:sp>
      <p:sp>
        <p:nvSpPr>
          <p:cNvPr id="31" name="footer-right"/>
          <p:cNvSpPr txBox="1"/>
          <p:nvPr/>
        </p:nvSpPr>
        <p:spPr>
          <a:xfrm>
            <a:off x="13919200" y="8597900"/>
            <a:ext cx="127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200" noProof="1" b="1" spc="190" kern="0">
                <a:solidFill>
                  <a:srgbClr val="1D1D1F"/>
                </a:solidFill>
                <a:latin typeface="MiSans"/>
                <a:ea typeface="MiSans"/>
              </a:rPr>
              <a:t>11 / 12</a:t>
            </a:r>
            <a:endParaRPr lang="en-US" sz="12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"/>
          <p:cNvSpPr txBox="1"/>
          <p:nvPr/>
        </p:nvSpPr>
        <p:spPr>
          <a:xfrm>
            <a:off x="1066800" y="3454400"/>
            <a:ext cx="14122400" cy="223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7600" noProof="1" b="1" spc="-790" kern="0">
                <a:solidFill>
                  <a:srgbClr val="1D1D1F"/>
                </a:solidFill>
                <a:latin typeface="MiSans"/>
                <a:ea typeface="MiSans"/>
              </a:rPr>
              <a:t>Q</a:t>
            </a:r>
            <a:r>
              <a:rPr lang="en-US" sz="17600" noProof="1" b="1" spc="-790" kern="0">
                <a:solidFill>
                  <a:srgbClr val="0071E3"/>
                </a:solidFill>
                <a:latin typeface="MiSans"/>
                <a:ea typeface="MiSans"/>
              </a:rPr>
              <a:t>&amp;</a:t>
            </a:r>
            <a:r>
              <a:rPr lang="en-US" sz="17600" noProof="1" b="1" spc="-790" kern="0">
                <a:solidFill>
                  <a:srgbClr val="1D1D1F"/>
                </a:solidFill>
                <a:latin typeface="MiSans"/>
                <a:ea typeface="MiSans"/>
              </a:rPr>
              <a:t>A</a:t>
            </a:r>
            <a:endParaRPr lang="en-US" sz="176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12</Slides>
</Properties>
</file>

<file path=docProps/core.xml><?xml version="1.0" encoding="utf-8"?>
<cp:coreProperties xmlns:dc="http://purl.org/dc/elements/1.1/" xmlns:cp="http://schemas.openxmlformats.org/package/2006/metadata/core-properties">
  <dc:title>KnowFeed Pitch Deck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